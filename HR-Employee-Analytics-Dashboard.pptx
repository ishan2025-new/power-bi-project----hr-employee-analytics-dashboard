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5" r:id="rId12"/>
    <p:sldId id="266" r:id="rId13"/>
  </p:sldIdLst>
  <p:sldSz cx="18288000" cy="10287000"/>
  <p:notesSz cx="6858000" cy="9144000"/>
  <p:embeddedFontLst>
    <p:embeddedFont>
      <p:font typeface="Crimson Pro" panose="020B0604020202020204" charset="0"/>
      <p:regular r:id="rId15"/>
    </p:embeddedFont>
    <p:embeddedFont>
      <p:font typeface="Heebo" pitchFamily="2" charset="-79"/>
      <p:regular r:id="rId16"/>
      <p:bold r:id="rId17"/>
    </p:embeddedFont>
    <p:embeddedFont>
      <p:font typeface="Heebo Bold" charset="-79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17.08.2026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CABA7-CCC7-737F-858D-76CCB4D91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1C22368-136D-5862-4C63-49B72EB27FA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2989DD-7D0D-031F-3E8E-A742A3AE203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129F3A0-123C-D503-F0B5-DD1FBCC0EA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EF58F1EF-876D-0B0F-C342-D6BBD6238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323740-2EC5-6754-E152-74A4B1F6B98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A24948-0E06-A598-D4F4-6D2983AE5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5784872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jpe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jpe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eg"/><Relationship Id="rId3" Type="http://schemas.openxmlformats.org/officeDocument/2006/relationships/image" Target="../media/image10.jpe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jpeg"/><Relationship Id="rId5" Type="http://schemas.openxmlformats.org/officeDocument/2006/relationships/image" Target="../media/image20.sv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856182" y="3398358"/>
            <a:ext cx="9452677" cy="17137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1"/>
              </a:lnSpc>
            </a:pPr>
            <a:r>
              <a:rPr lang="en-US" sz="5554" dirty="0" err="1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Nexora</a:t>
            </a:r>
            <a:r>
              <a:rPr lang="en-US" sz="5554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 HR Employee Analytics Dashboard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6182" y="5568648"/>
            <a:ext cx="10367762" cy="530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Using Power BI for Data-Driven HR Decisions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1E80F40-BE00-5952-D250-DB7474C448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sp>
        <p:nvSpPr>
          <p:cNvPr id="9" name="TextBox 11">
            <a:extLst>
              <a:ext uri="{FF2B5EF4-FFF2-40B4-BE49-F238E27FC236}">
                <a16:creationId xmlns:a16="http://schemas.microsoft.com/office/drawing/2014/main" id="{93451DB5-93F8-BFD4-3542-B1B44940F751}"/>
              </a:ext>
            </a:extLst>
          </p:cNvPr>
          <p:cNvSpPr txBox="1"/>
          <p:nvPr/>
        </p:nvSpPr>
        <p:spPr>
          <a:xfrm>
            <a:off x="7848600" y="6365919"/>
            <a:ext cx="8534400" cy="4203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Presented By: Rudrashis Chowdhury, Gourab Mondal and Tuhin Roy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2061581"/>
            <a:ext cx="16315868" cy="934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1"/>
              </a:lnSpc>
            </a:pPr>
            <a:r>
              <a:rPr lang="en-US" sz="5554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Agenda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3563350"/>
            <a:ext cx="567461" cy="354635"/>
            <a:chOff x="0" y="0"/>
            <a:chExt cx="756615" cy="47284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92991" y="4007501"/>
            <a:ext cx="5249418" cy="38129"/>
            <a:chOff x="0" y="0"/>
            <a:chExt cx="6999224" cy="5083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92991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Problem Statement &amp; Objectives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991" y="4762862"/>
            <a:ext cx="5249418" cy="984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Understanding the HR challenge and project goals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6526139" y="3563350"/>
            <a:ext cx="567461" cy="354635"/>
            <a:chOff x="0" y="0"/>
            <a:chExt cx="756615" cy="47284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02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6139" y="4007501"/>
            <a:ext cx="5249418" cy="38129"/>
            <a:chOff x="0" y="0"/>
            <a:chExt cx="6999224" cy="5083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6526139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Dataset &amp; Data Cleaning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526139" y="4762862"/>
            <a:ext cx="5249418" cy="869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 err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Nexora</a:t>
            </a: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HR dataset, Power Query transformations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059288" y="3563350"/>
            <a:ext cx="567461" cy="354635"/>
            <a:chOff x="0" y="0"/>
            <a:chExt cx="756615" cy="47284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03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2059288" y="4007501"/>
            <a:ext cx="5249418" cy="38129"/>
            <a:chOff x="0" y="0"/>
            <a:chExt cx="6999224" cy="5083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2059288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 Model &amp; DAX Measures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059288" y="4762862"/>
            <a:ext cx="5249418" cy="984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Architecture, calculated columns, KPI measures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92991" y="6243457"/>
            <a:ext cx="567461" cy="354635"/>
            <a:chOff x="0" y="0"/>
            <a:chExt cx="756615" cy="47284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92991" y="6687607"/>
            <a:ext cx="8015992" cy="38129"/>
            <a:chOff x="0" y="0"/>
            <a:chExt cx="10687990" cy="5083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0687939" cy="50800"/>
            </a:xfrm>
            <a:custGeom>
              <a:avLst/>
              <a:gdLst/>
              <a:ahLst/>
              <a:cxnLst/>
              <a:rect l="l" t="t" r="r" b="b"/>
              <a:pathLst>
                <a:path w="10687939" h="50800">
                  <a:moveTo>
                    <a:pt x="0" y="0"/>
                  </a:moveTo>
                  <a:lnTo>
                    <a:pt x="10687939" y="0"/>
                  </a:lnTo>
                  <a:lnTo>
                    <a:pt x="10687939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992991" y="6877088"/>
            <a:ext cx="8015992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Dashboard Architecture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92991" y="7442968"/>
            <a:ext cx="8015992" cy="869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Interactive dashboard walkthrough with KPIs and Charts</a:t>
            </a:r>
          </a:p>
          <a:p>
            <a:pPr algn="l">
              <a:lnSpc>
                <a:spcPts val="3474"/>
              </a:lnSpc>
            </a:pPr>
            <a:endParaRPr lang="en-US" sz="2176" dirty="0">
              <a:solidFill>
                <a:srgbClr val="4C4C4D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grpSp>
        <p:nvGrpSpPr>
          <p:cNvPr id="35" name="Group 35"/>
          <p:cNvGrpSpPr/>
          <p:nvPr/>
        </p:nvGrpSpPr>
        <p:grpSpPr>
          <a:xfrm>
            <a:off x="9292714" y="6243457"/>
            <a:ext cx="567461" cy="354635"/>
            <a:chOff x="0" y="0"/>
            <a:chExt cx="756615" cy="47284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05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292714" y="6687607"/>
            <a:ext cx="8015992" cy="38129"/>
            <a:chOff x="0" y="0"/>
            <a:chExt cx="10687990" cy="5083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0687939" cy="50800"/>
            </a:xfrm>
            <a:custGeom>
              <a:avLst/>
              <a:gdLst/>
              <a:ahLst/>
              <a:cxnLst/>
              <a:rect l="l" t="t" r="r" b="b"/>
              <a:pathLst>
                <a:path w="10687939" h="50800">
                  <a:moveTo>
                    <a:pt x="0" y="0"/>
                  </a:moveTo>
                  <a:lnTo>
                    <a:pt x="10687939" y="0"/>
                  </a:lnTo>
                  <a:lnTo>
                    <a:pt x="10687939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9292714" y="6877088"/>
            <a:ext cx="8015992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Insights, Recommendations &amp; Future Scope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292714" y="7442968"/>
            <a:ext cx="8015992" cy="530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Business findings, strategy, and next steps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5C14F32D-0E31-927A-A210-FCEEF0A6FD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496616"/>
            <a:ext cx="9452677" cy="82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82"/>
              </a:lnSpc>
            </a:pPr>
            <a:r>
              <a:rPr lang="en-US" sz="495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Problem Statement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7856182" y="266789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8254451" y="294225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Challenge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254451" y="343127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HR departments lack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real-time visibility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into employee attrition patterns, salary distribution, and departmental performance.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7856182" y="477843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8254451" y="505280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Impact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54451" y="554182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Reactive decision-making,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high turnover costs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and missed retention opportunities erode organizational performance.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7856182" y="688898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8254451" y="716334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Solution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254451" y="765236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An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interactive Power BI dashboard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enabling data-driven HR strategy — from attrition analysis to compensation benchmarking.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1DB13CC-6F77-04DE-EA53-F905008551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58358" y="3092987"/>
            <a:ext cx="7304951" cy="4109085"/>
            <a:chOff x="0" y="0"/>
            <a:chExt cx="9739935" cy="547878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739884" cy="5478780"/>
            </a:xfrm>
            <a:custGeom>
              <a:avLst/>
              <a:gdLst/>
              <a:ahLst/>
              <a:cxnLst/>
              <a:rect l="l" t="t" r="r" b="b"/>
              <a:pathLst>
                <a:path w="9739884" h="5478780">
                  <a:moveTo>
                    <a:pt x="0" y="0"/>
                  </a:moveTo>
                  <a:lnTo>
                    <a:pt x="9739884" y="0"/>
                  </a:lnTo>
                  <a:lnTo>
                    <a:pt x="9739884" y="5478780"/>
                  </a:lnTo>
                  <a:lnTo>
                    <a:pt x="0" y="54787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64" b="-6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922557" y="1691583"/>
            <a:ext cx="5395674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1"/>
              </a:lnSpc>
            </a:pPr>
            <a:r>
              <a:rPr lang="en-US" sz="390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Project Objectives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11997033" y="2503313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12567923" y="2478157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Attrition Trend Analysis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567923" y="2917841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Analyze employee attrition across departments and job roles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11997033" y="3770976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12567923" y="3745821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Visualization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567923" y="4185514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Map salary distribution and compensation patterns across the workforce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11997033" y="5038639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5"/>
                </a:lnTo>
                <a:lnTo>
                  <a:pt x="0" y="2978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12567923" y="5013484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Workforce Demographics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567923" y="5453177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Surface tenure insights, age distribution, and diversity metrics</a:t>
            </a:r>
          </a:p>
        </p:txBody>
      </p:sp>
      <p:sp>
        <p:nvSpPr>
          <p:cNvPr id="18" name="Freeform 18" descr="preencoded.png"/>
          <p:cNvSpPr/>
          <p:nvPr/>
        </p:nvSpPr>
        <p:spPr>
          <a:xfrm>
            <a:off x="11997033" y="6306312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9"/>
          <p:cNvSpPr txBox="1"/>
          <p:nvPr/>
        </p:nvSpPr>
        <p:spPr>
          <a:xfrm>
            <a:off x="12567923" y="6281156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Interactive Exploration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567923" y="6720850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Enable slicers, filters, and drill-through for self-service analytics</a:t>
            </a:r>
          </a:p>
        </p:txBody>
      </p:sp>
      <p:sp>
        <p:nvSpPr>
          <p:cNvPr id="21" name="Freeform 21" descr="preencoded.png"/>
          <p:cNvSpPr/>
          <p:nvPr/>
        </p:nvSpPr>
        <p:spPr>
          <a:xfrm>
            <a:off x="11997033" y="7573975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5"/>
                </a:lnTo>
                <a:lnTo>
                  <a:pt x="0" y="2978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2" name="TextBox 22"/>
          <p:cNvSpPr txBox="1"/>
          <p:nvPr/>
        </p:nvSpPr>
        <p:spPr>
          <a:xfrm>
            <a:off x="12567923" y="7548820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Actionable KPIs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567923" y="7988513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Support strategic HR decision-making with measurable business outcomes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4E8FDFE-2CBC-F563-0D94-AE6952FACF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1109510"/>
            <a:ext cx="16315868" cy="782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1"/>
              </a:lnSpc>
            </a:pPr>
            <a:r>
              <a:rPr lang="en-US" sz="47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Dataset Overview &amp; Data Cleaning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2429732"/>
            <a:ext cx="3829412" cy="2134676"/>
            <a:chOff x="0" y="0"/>
            <a:chExt cx="5105883" cy="284623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105908" cy="2846197"/>
            </a:xfrm>
            <a:custGeom>
              <a:avLst/>
              <a:gdLst/>
              <a:ahLst/>
              <a:cxnLst/>
              <a:rect l="l" t="t" r="r" b="b"/>
              <a:pathLst>
                <a:path w="5105908" h="2846197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5057648" y="0"/>
                  </a:lnTo>
                  <a:cubicBezTo>
                    <a:pt x="5084318" y="0"/>
                    <a:pt x="5105908" y="21590"/>
                    <a:pt x="5105908" y="48260"/>
                  </a:cubicBezTo>
                  <a:lnTo>
                    <a:pt x="5105908" y="2797937"/>
                  </a:lnTo>
                  <a:cubicBezTo>
                    <a:pt x="5105908" y="2824607"/>
                    <a:pt x="5084318" y="2846197"/>
                    <a:pt x="5057648" y="2846197"/>
                  </a:cubicBezTo>
                  <a:lnTo>
                    <a:pt x="48260" y="2846197"/>
                  </a:lnTo>
                  <a:cubicBezTo>
                    <a:pt x="21590" y="2846197"/>
                    <a:pt x="0" y="2824607"/>
                    <a:pt x="0" y="279793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234126" y="2642302"/>
            <a:ext cx="3347142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Source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34126" y="3195504"/>
            <a:ext cx="3347142" cy="10596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dirty="0" err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Nexora</a:t>
            </a: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HR Analytics Employee Attrition Dataset — industry-standard benchmark dataset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027343" y="2429732"/>
            <a:ext cx="3829412" cy="2134676"/>
            <a:chOff x="0" y="0"/>
            <a:chExt cx="5105883" cy="284623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05908" cy="2846197"/>
            </a:xfrm>
            <a:custGeom>
              <a:avLst/>
              <a:gdLst/>
              <a:ahLst/>
              <a:cxnLst/>
              <a:rect l="l" t="t" r="r" b="b"/>
              <a:pathLst>
                <a:path w="5105908" h="2846197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5057648" y="0"/>
                  </a:lnTo>
                  <a:cubicBezTo>
                    <a:pt x="5084318" y="0"/>
                    <a:pt x="5105908" y="21590"/>
                    <a:pt x="5105908" y="48260"/>
                  </a:cubicBezTo>
                  <a:lnTo>
                    <a:pt x="5105908" y="2797937"/>
                  </a:lnTo>
                  <a:cubicBezTo>
                    <a:pt x="5105908" y="2824607"/>
                    <a:pt x="5084318" y="2846197"/>
                    <a:pt x="5057648" y="2846197"/>
                  </a:cubicBezTo>
                  <a:lnTo>
                    <a:pt x="48260" y="2846197"/>
                  </a:lnTo>
                  <a:cubicBezTo>
                    <a:pt x="21590" y="2846197"/>
                    <a:pt x="0" y="2824607"/>
                    <a:pt x="0" y="279793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5268478" y="2642302"/>
            <a:ext cx="3347142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Volume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68478" y="3195504"/>
            <a:ext cx="3347142" cy="112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1,470 employee records across </a:t>
            </a: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35 attributes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covering the full employee lifecycle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92991" y="4769348"/>
            <a:ext cx="7863773" cy="1777803"/>
            <a:chOff x="0" y="0"/>
            <a:chExt cx="10485031" cy="237040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485120" cy="2370455"/>
            </a:xfrm>
            <a:custGeom>
              <a:avLst/>
              <a:gdLst/>
              <a:ahLst/>
              <a:cxnLst/>
              <a:rect l="l" t="t" r="r" b="b"/>
              <a:pathLst>
                <a:path w="10485120" h="2370455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10436860" y="0"/>
                  </a:lnTo>
                  <a:cubicBezTo>
                    <a:pt x="10463530" y="0"/>
                    <a:pt x="10485120" y="21590"/>
                    <a:pt x="10485120" y="48260"/>
                  </a:cubicBezTo>
                  <a:lnTo>
                    <a:pt x="10485120" y="2322195"/>
                  </a:lnTo>
                  <a:cubicBezTo>
                    <a:pt x="10485120" y="2348865"/>
                    <a:pt x="10463530" y="2370455"/>
                    <a:pt x="10436860" y="2370455"/>
                  </a:cubicBezTo>
                  <a:lnTo>
                    <a:pt x="48260" y="2370455"/>
                  </a:lnTo>
                  <a:cubicBezTo>
                    <a:pt x="21590" y="2370455"/>
                    <a:pt x="0" y="2348865"/>
                    <a:pt x="0" y="2322195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234126" y="4981918"/>
            <a:ext cx="738150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Format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34126" y="5535120"/>
            <a:ext cx="7381504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Structured CSV file encompassing demographics, compensation, performance &amp; attrition status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454610" y="2375535"/>
            <a:ext cx="7863773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Power Query Transformations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454610" y="3011510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0"/>
                </a:lnTo>
                <a:lnTo>
                  <a:pt x="0" y="1835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1" name="TextBox 21"/>
          <p:cNvSpPr txBox="1"/>
          <p:nvPr/>
        </p:nvSpPr>
        <p:spPr>
          <a:xfrm>
            <a:off x="9838725" y="3252673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Removed Redundant Columns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838725" y="3805876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EmployeeCount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</a:t>
            </a: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Over18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</a:t>
            </a: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StandardHours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— constant values with zero analytical value</a:t>
            </a:r>
          </a:p>
        </p:txBody>
      </p:sp>
      <p:sp>
        <p:nvSpPr>
          <p:cNvPr id="23" name="Freeform 23" descr="preencoded.png"/>
          <p:cNvSpPr/>
          <p:nvPr/>
        </p:nvSpPr>
        <p:spPr>
          <a:xfrm>
            <a:off x="9454610" y="5051450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1"/>
                </a:lnTo>
                <a:lnTo>
                  <a:pt x="0" y="18350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4" name="TextBox 24"/>
          <p:cNvSpPr txBox="1"/>
          <p:nvPr/>
        </p:nvSpPr>
        <p:spPr>
          <a:xfrm>
            <a:off x="9838725" y="5292614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 Validation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838725" y="5845816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Verified data types, checked for missing values and duplicate records across all 35 fields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9454610" y="7091401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0"/>
                </a:lnTo>
                <a:lnTo>
                  <a:pt x="0" y="1835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7" name="TextBox 27"/>
          <p:cNvSpPr txBox="1"/>
          <p:nvPr/>
        </p:nvSpPr>
        <p:spPr>
          <a:xfrm>
            <a:off x="9838725" y="7332564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Clean Output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838725" y="7885757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1,470 records × 32 refined columns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— fully validated and ready for modeling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8C80B140-F1E6-C566-F109-B64107F814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859879"/>
            <a:ext cx="16315868" cy="693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41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Data Model &amp; Calculated Columns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1972323"/>
            <a:ext cx="5923674" cy="5923817"/>
            <a:chOff x="0" y="0"/>
            <a:chExt cx="7898232" cy="7898422"/>
          </a:xfrm>
        </p:grpSpPr>
        <p:sp>
          <p:nvSpPr>
            <p:cNvPr id="8" name="Freeform 8" descr="preencoded.png"/>
            <p:cNvSpPr/>
            <p:nvPr/>
          </p:nvSpPr>
          <p:spPr>
            <a:xfrm>
              <a:off x="0" y="0"/>
              <a:ext cx="7898257" cy="7898384"/>
            </a:xfrm>
            <a:custGeom>
              <a:avLst/>
              <a:gdLst/>
              <a:ahLst/>
              <a:cxnLst/>
              <a:rect l="l" t="t" r="r" b="b"/>
              <a:pathLst>
                <a:path w="7898257" h="7898384">
                  <a:moveTo>
                    <a:pt x="0" y="0"/>
                  </a:moveTo>
                  <a:lnTo>
                    <a:pt x="7898257" y="0"/>
                  </a:lnTo>
                  <a:lnTo>
                    <a:pt x="7898257" y="7898384"/>
                  </a:lnTo>
                  <a:lnTo>
                    <a:pt x="0" y="7898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9420054" y="3576466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Model Architecture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20054" y="4049382"/>
            <a:ext cx="7898330" cy="1397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Fact Table: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Employee master data with all 32 HR metrics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Dimensions: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Department, Job Role, and Attrition Status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Optimization: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Indexed key columns for fast query performance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Scalability: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Designed to accommodate additional HR data sources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420054" y="5679253"/>
            <a:ext cx="7898330" cy="28594"/>
            <a:chOff x="0" y="0"/>
            <a:chExt cx="10531107" cy="3812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531094" cy="38100"/>
            </a:xfrm>
            <a:custGeom>
              <a:avLst/>
              <a:gdLst/>
              <a:ahLst/>
              <a:cxnLst/>
              <a:rect l="l" t="t" r="r" b="b"/>
              <a:pathLst>
                <a:path w="10531094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10512044" y="0"/>
                  </a:lnTo>
                  <a:cubicBezTo>
                    <a:pt x="10522585" y="0"/>
                    <a:pt x="10531094" y="8509"/>
                    <a:pt x="10531094" y="19050"/>
                  </a:cubicBezTo>
                  <a:cubicBezTo>
                    <a:pt x="10531094" y="29591"/>
                    <a:pt x="10522585" y="38100"/>
                    <a:pt x="10512044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4C4C4D">
                <a:alpha val="24706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420054" y="5921454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Calculated Columns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450669" y="6499322"/>
            <a:ext cx="8078105" cy="1151344"/>
            <a:chOff x="0" y="0"/>
            <a:chExt cx="10770806" cy="153512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70743" cy="1535049"/>
            </a:xfrm>
            <a:custGeom>
              <a:avLst/>
              <a:gdLst/>
              <a:ahLst/>
              <a:cxnLst/>
              <a:rect l="l" t="t" r="r" b="b"/>
              <a:pathLst>
                <a:path w="10770743" h="1535049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10728198" y="0"/>
                  </a:lnTo>
                  <a:cubicBezTo>
                    <a:pt x="10751693" y="0"/>
                    <a:pt x="10770743" y="19050"/>
                    <a:pt x="10770743" y="42545"/>
                  </a:cubicBezTo>
                  <a:lnTo>
                    <a:pt x="10770743" y="1492504"/>
                  </a:lnTo>
                  <a:cubicBezTo>
                    <a:pt x="10770743" y="1515999"/>
                    <a:pt x="10751693" y="1535049"/>
                    <a:pt x="10728198" y="1535049"/>
                  </a:cubicBezTo>
                  <a:lnTo>
                    <a:pt x="42545" y="1535049"/>
                  </a:lnTo>
                  <a:cubicBezTo>
                    <a:pt x="19050" y="1535049"/>
                    <a:pt x="0" y="1515999"/>
                    <a:pt x="0" y="1492504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642281" y="6686148"/>
            <a:ext cx="7652728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 dirty="0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Age Group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642281" y="7095161"/>
            <a:ext cx="7652728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18–25 · 26–35 · 36–45 · 46–55 · 55+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450669" y="7873098"/>
            <a:ext cx="8078248" cy="1151287"/>
            <a:chOff x="293424" y="-511935"/>
            <a:chExt cx="10770997" cy="1535049"/>
          </a:xfrm>
        </p:grpSpPr>
        <p:sp>
          <p:nvSpPr>
            <p:cNvPr id="19" name="Freeform 19"/>
            <p:cNvSpPr/>
            <p:nvPr/>
          </p:nvSpPr>
          <p:spPr>
            <a:xfrm>
              <a:off x="293424" y="-511935"/>
              <a:ext cx="10770997" cy="1535049"/>
            </a:xfrm>
            <a:custGeom>
              <a:avLst/>
              <a:gdLst/>
              <a:ahLst/>
              <a:cxnLst/>
              <a:rect l="l" t="t" r="r" b="b"/>
              <a:pathLst>
                <a:path w="10770997" h="1535049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10728452" y="0"/>
                  </a:lnTo>
                  <a:cubicBezTo>
                    <a:pt x="10751947" y="0"/>
                    <a:pt x="10770997" y="19050"/>
                    <a:pt x="10770997" y="42545"/>
                  </a:cubicBezTo>
                  <a:lnTo>
                    <a:pt x="10770997" y="1492504"/>
                  </a:lnTo>
                  <a:cubicBezTo>
                    <a:pt x="10770997" y="1515999"/>
                    <a:pt x="10751947" y="1535049"/>
                    <a:pt x="10728452" y="1535049"/>
                  </a:cubicBezTo>
                  <a:lnTo>
                    <a:pt x="42545" y="1535049"/>
                  </a:lnTo>
                  <a:cubicBezTo>
                    <a:pt x="19050" y="1535049"/>
                    <a:pt x="0" y="1515999"/>
                    <a:pt x="0" y="1492504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9644529" y="8039100"/>
            <a:ext cx="7652871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 dirty="0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Salary Band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44529" y="8496300"/>
            <a:ext cx="7652871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Low · Medium · High · Executive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81874C9-8452-FD9D-8430-4CC9BC5CE3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232240"/>
            <a:ext cx="9452677" cy="82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82"/>
              </a:lnSpc>
            </a:pPr>
            <a:r>
              <a:rPr lang="en-US" sz="495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DAX Measures &amp; KPIs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7856182" y="2403519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4707" r="-1470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8781698" y="2393994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Headcount Metrics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781698" y="2883017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Total Employees, Employees Left, Employees Stayed — the foundational workforce snapshot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7856182" y="4176103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1031" r="-1103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8781698" y="4166578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Attrition Analysis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781698" y="4655601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Rate (%), Attrition by Department, Attrition by Job Role — pinpointing flight-risk zones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7856182" y="5948696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49997" b="-4999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8781698" y="5939171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KPIs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781698" y="6428194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Average Salary, Maximum Salary, Minimum Salary — enabling pay equity and benchmarking</a:t>
            </a:r>
          </a:p>
        </p:txBody>
      </p:sp>
      <p:sp>
        <p:nvSpPr>
          <p:cNvPr id="18" name="Freeform 18" descr="preencoded.png"/>
          <p:cNvSpPr/>
          <p:nvPr/>
        </p:nvSpPr>
        <p:spPr>
          <a:xfrm>
            <a:off x="7856182" y="7721279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471" r="-147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9"/>
          <p:cNvSpPr txBox="1"/>
          <p:nvPr/>
        </p:nvSpPr>
        <p:spPr>
          <a:xfrm>
            <a:off x="8781698" y="7711754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Demographics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781698" y="8200777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Average Age, Tenure Distribution — revealing workforce maturity and generational composition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946244D-2E8E-5FC2-580E-1B7B1758604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92991" y="982904"/>
            <a:ext cx="16315868" cy="782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1"/>
              </a:lnSpc>
            </a:pPr>
            <a:r>
              <a:rPr lang="en-US" sz="47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Dashboard Page 1: HR Analytics Overview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99697" y="2722731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KPI Cards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99697" y="3275933"/>
            <a:ext cx="7018534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Total Employees · Employees Left · </a:t>
            </a: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Attrition Rate %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· Average Salary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99697" y="4223195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Visualizations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299697" y="4776397"/>
            <a:ext cx="7018534" cy="14187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by Department (pie chart)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by Job Role (horizontal bar)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Salary Analysis by band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Age Distribution histogram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299697" y="6652327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Interactive Elements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299697" y="7205529"/>
            <a:ext cx="7933630" cy="285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Slicers: </a:t>
            </a:r>
            <a:r>
              <a:rPr lang="en-US" sz="1876" b="1" dirty="0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Department · Job Role · Overtime Status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dirty="0"/>
              <a:t>Age Group Filters: </a:t>
            </a:r>
            <a:r>
              <a:rPr lang="en-US" sz="2000" b="1" dirty="0"/>
              <a:t>30–39 • 40–49 • 50+ • Under 30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Department Selection:</a:t>
            </a:r>
            <a:r>
              <a:rPr lang="en-US" sz="2000" dirty="0"/>
              <a:t> Human Resources, Sales, Research &amp; Development (</a:t>
            </a:r>
            <a:r>
              <a:rPr lang="en-US" sz="2000" dirty="0" err="1"/>
              <a:t>Treemap</a:t>
            </a:r>
            <a:r>
              <a:rPr lang="en-US" sz="2000" dirty="0"/>
              <a:t>)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Cross-filtering:</a:t>
            </a:r>
            <a:r>
              <a:rPr lang="en-US" sz="2000" dirty="0"/>
              <a:t> Selecting an age group or department dynamically updates all KPI cards and visualizations on the dashboard.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Interactive Dashboard:</a:t>
            </a:r>
            <a:r>
              <a:rPr lang="en-US" sz="2000" dirty="0"/>
              <a:t> All charts are interconnected, enabling users to explore HR metrics through real-time filtering.</a:t>
            </a:r>
            <a:endParaRPr lang="en-US" sz="1876" b="1" dirty="0">
              <a:solidFill>
                <a:srgbClr val="4C4C4D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CBC7EE7-58CC-1363-4BBD-D0212D0DA5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F406AC8-C2D0-3C03-22F5-3ADE6A09BC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479" y="3112485"/>
            <a:ext cx="8756941" cy="49266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92991" y="2798074"/>
            <a:ext cx="1281484" cy="344805"/>
            <a:chOff x="0" y="0"/>
            <a:chExt cx="1708645" cy="45974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08658" cy="459740"/>
            </a:xfrm>
            <a:custGeom>
              <a:avLst/>
              <a:gdLst/>
              <a:ahLst/>
              <a:cxnLst/>
              <a:rect l="l" t="t" r="r" b="b"/>
              <a:pathLst>
                <a:path w="1708658" h="459740">
                  <a:moveTo>
                    <a:pt x="0" y="36322"/>
                  </a:moveTo>
                  <a:cubicBezTo>
                    <a:pt x="0" y="16256"/>
                    <a:pt x="16256" y="0"/>
                    <a:pt x="36322" y="0"/>
                  </a:cubicBezTo>
                  <a:lnTo>
                    <a:pt x="1672336" y="0"/>
                  </a:lnTo>
                  <a:cubicBezTo>
                    <a:pt x="1692402" y="0"/>
                    <a:pt x="1708658" y="16256"/>
                    <a:pt x="1708658" y="36322"/>
                  </a:cubicBezTo>
                  <a:lnTo>
                    <a:pt x="1708658" y="423418"/>
                  </a:lnTo>
                  <a:cubicBezTo>
                    <a:pt x="1708658" y="443484"/>
                    <a:pt x="1692402" y="459740"/>
                    <a:pt x="1672336" y="459740"/>
                  </a:cubicBezTo>
                  <a:lnTo>
                    <a:pt x="36322" y="459740"/>
                  </a:lnTo>
                  <a:cubicBezTo>
                    <a:pt x="16256" y="459740"/>
                    <a:pt x="0" y="443484"/>
                    <a:pt x="0" y="423418"/>
                  </a:cubicBezTo>
                  <a:close/>
                </a:path>
              </a:pathLst>
            </a:custGeom>
            <a:solidFill>
              <a:srgbClr val="CCD7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992991" y="1574225"/>
            <a:ext cx="6401753" cy="70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Details &amp; Analysis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9122" y="2866139"/>
            <a:ext cx="1924317" cy="208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42"/>
              </a:lnSpc>
            </a:pPr>
            <a:r>
              <a:rPr lang="en-US" sz="14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PAGE 2 OF 3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2991" y="3186836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Detail Table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991" y="3723037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Searchable employee records with key HR metrics at a glance — name, role, salary, tenure, satisfaction score.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2991" y="4558170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Salary Analysis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991" y="5094370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Compensation by Job Role with trend indicators highlighting over- and under-paid segments.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991" y="5929503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Satisfaction Metrics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991" y="6465703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Job satisfaction levels correlated with years at company — visualizing engagement across tenure bands.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991" y="7300836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Drill-Through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92991" y="7837037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Click any employee row to navigate to a </a:t>
            </a:r>
            <a:r>
              <a:rPr lang="en-US" sz="172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detailed individual profile page</a:t>
            </a: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with full HR history.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933427-B28F-B226-17AA-5742BD6194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24F7923-B8BF-C031-D00E-CF87C88BC3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6800" y="2621121"/>
            <a:ext cx="8852340" cy="49464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524717-E84E-EA39-9CD9-087D06E61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FF7FA04-D3D3-29B1-4145-DAFD038C2A27}"/>
              </a:ext>
            </a:extLst>
          </p:cNvPr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443C58E-5A8C-8F0D-3D56-2E00F2800D9B}"/>
                </a:ext>
              </a:extLst>
            </p:cNvPr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4F5D0245-FE42-8DB5-08B4-A9A2AB321190}"/>
              </a:ext>
            </a:extLst>
          </p:cNvPr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DC55446B-4A00-FB57-7049-343604F7E0E8}"/>
                </a:ext>
              </a:extLst>
            </p:cNvPr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D480C064-8814-10F0-BF7A-26D1D4F40FFA}"/>
              </a:ext>
            </a:extLst>
          </p:cNvPr>
          <p:cNvGrpSpPr/>
          <p:nvPr/>
        </p:nvGrpSpPr>
        <p:grpSpPr>
          <a:xfrm>
            <a:off x="992991" y="2798074"/>
            <a:ext cx="1281484" cy="344805"/>
            <a:chOff x="0" y="0"/>
            <a:chExt cx="1708645" cy="45974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E220B74-913C-EE5A-D4AA-61443109F6E3}"/>
                </a:ext>
              </a:extLst>
            </p:cNvPr>
            <p:cNvSpPr/>
            <p:nvPr/>
          </p:nvSpPr>
          <p:spPr>
            <a:xfrm>
              <a:off x="0" y="0"/>
              <a:ext cx="1708658" cy="459740"/>
            </a:xfrm>
            <a:custGeom>
              <a:avLst/>
              <a:gdLst/>
              <a:ahLst/>
              <a:cxnLst/>
              <a:rect l="l" t="t" r="r" b="b"/>
              <a:pathLst>
                <a:path w="1708658" h="459740">
                  <a:moveTo>
                    <a:pt x="0" y="36322"/>
                  </a:moveTo>
                  <a:cubicBezTo>
                    <a:pt x="0" y="16256"/>
                    <a:pt x="16256" y="0"/>
                    <a:pt x="36322" y="0"/>
                  </a:cubicBezTo>
                  <a:lnTo>
                    <a:pt x="1672336" y="0"/>
                  </a:lnTo>
                  <a:cubicBezTo>
                    <a:pt x="1692402" y="0"/>
                    <a:pt x="1708658" y="16256"/>
                    <a:pt x="1708658" y="36322"/>
                  </a:cubicBezTo>
                  <a:lnTo>
                    <a:pt x="1708658" y="423418"/>
                  </a:lnTo>
                  <a:cubicBezTo>
                    <a:pt x="1708658" y="443484"/>
                    <a:pt x="1692402" y="459740"/>
                    <a:pt x="1672336" y="459740"/>
                  </a:cubicBezTo>
                  <a:lnTo>
                    <a:pt x="36322" y="459740"/>
                  </a:lnTo>
                  <a:cubicBezTo>
                    <a:pt x="16256" y="459740"/>
                    <a:pt x="0" y="443484"/>
                    <a:pt x="0" y="423418"/>
                  </a:cubicBezTo>
                  <a:close/>
                </a:path>
              </a:pathLst>
            </a:custGeom>
            <a:solidFill>
              <a:srgbClr val="CCD7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819304-83E1-6E43-E3B0-F08A1ACC2DD9}"/>
              </a:ext>
            </a:extLst>
          </p:cNvPr>
          <p:cNvSpPr txBox="1"/>
          <p:nvPr/>
        </p:nvSpPr>
        <p:spPr>
          <a:xfrm>
            <a:off x="992991" y="1574225"/>
            <a:ext cx="6401753" cy="660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Department Performance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33843F1-01D8-2B1E-18F3-5241DFB07181}"/>
              </a:ext>
            </a:extLst>
          </p:cNvPr>
          <p:cNvSpPr txBox="1"/>
          <p:nvPr/>
        </p:nvSpPr>
        <p:spPr>
          <a:xfrm>
            <a:off x="1129122" y="2866139"/>
            <a:ext cx="1924317" cy="208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42"/>
              </a:lnSpc>
            </a:pPr>
            <a:r>
              <a:rPr lang="en-US" sz="14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PAGE 3 OF 3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6B49D95-F557-1678-FDF1-E2673428B504}"/>
              </a:ext>
            </a:extLst>
          </p:cNvPr>
          <p:cNvSpPr txBox="1"/>
          <p:nvPr/>
        </p:nvSpPr>
        <p:spPr>
          <a:xfrm>
            <a:off x="992991" y="3186836"/>
            <a:ext cx="7037451" cy="324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Department Summary Table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A5299E4-8AC1-5125-B214-61F0FDE39E86}"/>
              </a:ext>
            </a:extLst>
          </p:cNvPr>
          <p:cNvSpPr txBox="1"/>
          <p:nvPr/>
        </p:nvSpPr>
        <p:spPr>
          <a:xfrm>
            <a:off x="992991" y="3723037"/>
            <a:ext cx="7037451" cy="306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Working years, tenure, income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C44F8FA9-F525-7945-18CB-AEFCF9FEA379}"/>
              </a:ext>
            </a:extLst>
          </p:cNvPr>
          <p:cNvSpPr txBox="1"/>
          <p:nvPr/>
        </p:nvSpPr>
        <p:spPr>
          <a:xfrm>
            <a:off x="992991" y="4204213"/>
            <a:ext cx="7037451" cy="324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Job Role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E802907-83C9-18C1-1C88-329D190FA9FA}"/>
              </a:ext>
            </a:extLst>
          </p:cNvPr>
          <p:cNvSpPr txBox="1"/>
          <p:nvPr/>
        </p:nvSpPr>
        <p:spPr>
          <a:xfrm>
            <a:off x="992991" y="4740413"/>
            <a:ext cx="7037451" cy="306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Employees Left by Job Role and Average Salary by Job Role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8193DD98-89FC-C7B4-9B2E-EB8E5B204523}"/>
              </a:ext>
            </a:extLst>
          </p:cNvPr>
          <p:cNvSpPr txBox="1"/>
          <p:nvPr/>
        </p:nvSpPr>
        <p:spPr>
          <a:xfrm>
            <a:off x="992991" y="5219700"/>
            <a:ext cx="7037451" cy="3925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Job Satisfaction breakdown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6E4BF538-A678-A818-0603-08FE28241599}"/>
              </a:ext>
            </a:extLst>
          </p:cNvPr>
          <p:cNvSpPr txBox="1"/>
          <p:nvPr/>
        </p:nvSpPr>
        <p:spPr>
          <a:xfrm>
            <a:off x="992991" y="5789960"/>
            <a:ext cx="7037451" cy="948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Job satisfaction levels correlated with sum of years at company, sum of monthly income, and sum of total working years – and visualizing of all employee and salary.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50D2B8E2-1FD8-EBB7-92AD-7043C96537EB}"/>
              </a:ext>
            </a:extLst>
          </p:cNvPr>
          <p:cNvSpPr txBox="1"/>
          <p:nvPr/>
        </p:nvSpPr>
        <p:spPr>
          <a:xfrm>
            <a:off x="992991" y="6946879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Drill-Through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ED16B60-5900-683F-F443-F7D55E5B0816}"/>
              </a:ext>
            </a:extLst>
          </p:cNvPr>
          <p:cNvSpPr txBox="1"/>
          <p:nvPr/>
        </p:nvSpPr>
        <p:spPr>
          <a:xfrm>
            <a:off x="992991" y="7483080"/>
            <a:ext cx="7037451" cy="627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Click any department row to navigate to a </a:t>
            </a:r>
            <a:r>
              <a:rPr lang="en-US" sz="1726" b="1" dirty="0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detailed individual profile page</a:t>
            </a: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with </a:t>
            </a:r>
            <a:r>
              <a:rPr lang="en-US" sz="1726" dirty="0" err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JobRole</a:t>
            </a: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6631F2F-DBB1-AC78-3F72-FDAEA12575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3AEF649-82F8-2E1F-4F5D-1E6B8CFA58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4224" y="2592104"/>
            <a:ext cx="9112630" cy="5091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222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043226"/>
            <a:ext cx="9452677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1"/>
              </a:lnSpc>
            </a:pPr>
            <a:r>
              <a:rPr lang="en-US" sz="390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Key Business Insights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274092" y="2085899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16.1%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56182" y="2840088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Overall Attrition Rate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6182" y="3224222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237 of 1,470 employees left — above the 10% healthy benchmark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274092" y="3985984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20.6%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56182" y="4740173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Sales Dept. Attrition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856182" y="5124307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Highest attrition of all departments — a critical retention risk zone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274092" y="5886069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2.3x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856182" y="6640258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Overtime Impact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856182" y="7024392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Employees on overtime are 2.3× more likely to leave the organization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74092" y="7786154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26–35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856182" y="8540344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Peak Attrition Age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856182" y="8924477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The 26–35 age cohort accounts for the majority of voluntary departures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9F37365-09F2-595E-72C6-3BBBAD0C9A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1381039"/>
            <a:ext cx="16315868" cy="622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4128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Strategic Recommendations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991" y="2454469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Strategic Recommendations</a:t>
            </a:r>
          </a:p>
        </p:txBody>
      </p:sp>
      <p:sp>
        <p:nvSpPr>
          <p:cNvPr id="8" name="Freeform 8" descr="preencoded.png"/>
          <p:cNvSpPr/>
          <p:nvPr/>
        </p:nvSpPr>
        <p:spPr>
          <a:xfrm>
            <a:off x="992991" y="2985440"/>
            <a:ext cx="3869331" cy="2751306"/>
          </a:xfrm>
          <a:custGeom>
            <a:avLst/>
            <a:gdLst/>
            <a:ahLst/>
            <a:cxnLst/>
            <a:rect l="l" t="t" r="r" b="b"/>
            <a:pathLst>
              <a:path w="3869331" h="2751306">
                <a:moveTo>
                  <a:pt x="0" y="0"/>
                </a:moveTo>
                <a:lnTo>
                  <a:pt x="3869331" y="0"/>
                </a:lnTo>
                <a:lnTo>
                  <a:pt x="3869331" y="2751306"/>
                </a:lnTo>
                <a:lnTo>
                  <a:pt x="0" y="27513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103" b="-103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9" name="Group 9"/>
          <p:cNvGrpSpPr/>
          <p:nvPr/>
        </p:nvGrpSpPr>
        <p:grpSpPr>
          <a:xfrm>
            <a:off x="2768060" y="3133639"/>
            <a:ext cx="319183" cy="399021"/>
            <a:chOff x="0" y="0"/>
            <a:chExt cx="425577" cy="53202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1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234269" y="3792884"/>
            <a:ext cx="3386766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Targeted Retention Programs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34269" y="4265800"/>
            <a:ext cx="3386766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Design role-specific retention incentives for Sales and Research roles with highest attrition</a:t>
            </a:r>
          </a:p>
        </p:txBody>
      </p:sp>
      <p:sp>
        <p:nvSpPr>
          <p:cNvPr id="14" name="Freeform 14" descr="preencoded.png"/>
          <p:cNvSpPr/>
          <p:nvPr/>
        </p:nvSpPr>
        <p:spPr>
          <a:xfrm>
            <a:off x="5021837" y="2985440"/>
            <a:ext cx="3869484" cy="2751306"/>
          </a:xfrm>
          <a:custGeom>
            <a:avLst/>
            <a:gdLst/>
            <a:ahLst/>
            <a:cxnLst/>
            <a:rect l="l" t="t" r="r" b="b"/>
            <a:pathLst>
              <a:path w="3869484" h="2751306">
                <a:moveTo>
                  <a:pt x="0" y="0"/>
                </a:moveTo>
                <a:lnTo>
                  <a:pt x="3869484" y="0"/>
                </a:lnTo>
                <a:lnTo>
                  <a:pt x="3869484" y="2751306"/>
                </a:lnTo>
                <a:lnTo>
                  <a:pt x="0" y="27513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105" b="-105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5" name="Group 15"/>
          <p:cNvGrpSpPr/>
          <p:nvPr/>
        </p:nvGrpSpPr>
        <p:grpSpPr>
          <a:xfrm>
            <a:off x="6796907" y="3133639"/>
            <a:ext cx="319183" cy="399021"/>
            <a:chOff x="0" y="0"/>
            <a:chExt cx="425577" cy="53202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2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263115" y="3792884"/>
            <a:ext cx="3386909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Overtime Policy Reform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263115" y="4265800"/>
            <a:ext cx="3386909" cy="12296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Cap excessive overtime and introduce flexible work arrangements to reduce the 2.3× attrition multiplier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120309" y="2985440"/>
            <a:ext cx="3869331" cy="2751306"/>
          </a:xfrm>
          <a:custGeom>
            <a:avLst/>
            <a:gdLst/>
            <a:ahLst/>
            <a:cxnLst/>
            <a:rect l="l" t="t" r="r" b="b"/>
            <a:pathLst>
              <a:path w="3869331" h="2453411">
                <a:moveTo>
                  <a:pt x="0" y="0"/>
                </a:moveTo>
                <a:lnTo>
                  <a:pt x="3869331" y="0"/>
                </a:lnTo>
                <a:lnTo>
                  <a:pt x="3869331" y="2453412"/>
                </a:lnTo>
                <a:lnTo>
                  <a:pt x="0" y="24534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81" b="-180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1" name="Group 21"/>
          <p:cNvGrpSpPr/>
          <p:nvPr/>
        </p:nvGrpSpPr>
        <p:grpSpPr>
          <a:xfrm>
            <a:off x="10895378" y="3119374"/>
            <a:ext cx="319183" cy="399021"/>
            <a:chOff x="0" y="0"/>
            <a:chExt cx="425577" cy="53202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 dirty="0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3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9361587" y="3792875"/>
            <a:ext cx="3386766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 dirty="0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Early-Career Engagement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361587" y="4265791"/>
            <a:ext cx="3386766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Implement structured mentorship and career ladders for the high-risk 26–35 cohort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13385125" y="2985440"/>
            <a:ext cx="3869484" cy="2751306"/>
          </a:xfrm>
          <a:custGeom>
            <a:avLst/>
            <a:gdLst/>
            <a:ahLst/>
            <a:cxnLst/>
            <a:rect l="l" t="t" r="r" b="b"/>
            <a:pathLst>
              <a:path w="3869484" h="2453411">
                <a:moveTo>
                  <a:pt x="0" y="0"/>
                </a:moveTo>
                <a:lnTo>
                  <a:pt x="3869484" y="0"/>
                </a:lnTo>
                <a:lnTo>
                  <a:pt x="3869484" y="2453412"/>
                </a:lnTo>
                <a:lnTo>
                  <a:pt x="0" y="24534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83" b="-182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7" name="Group 27"/>
          <p:cNvGrpSpPr/>
          <p:nvPr/>
        </p:nvGrpSpPr>
        <p:grpSpPr>
          <a:xfrm>
            <a:off x="15160195" y="3133630"/>
            <a:ext cx="319183" cy="399021"/>
            <a:chOff x="0" y="0"/>
            <a:chExt cx="425577" cy="53202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 dirty="0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4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3626403" y="3792875"/>
            <a:ext cx="3386909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Benchmarking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626403" y="4265791"/>
            <a:ext cx="3386909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Align salary bands with market data to close pay gaps identified in the dashboard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AF5FADFC-F566-75B4-9298-B53B2D6AFFF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878</Words>
  <Application>Microsoft Office PowerPoint</Application>
  <PresentationFormat>Custom</PresentationFormat>
  <Paragraphs>168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Crimson Pro</vt:lpstr>
      <vt:lpstr>Heebo Bold</vt:lpstr>
      <vt:lpstr>Calibri</vt:lpstr>
      <vt:lpstr>Arial</vt:lpstr>
      <vt:lpstr>Heebo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HR-Employee-Analytics-Dashboard.pptx</dc:title>
  <cp:lastModifiedBy>Rudrashis Chowdhury</cp:lastModifiedBy>
  <cp:revision>16</cp:revision>
  <dcterms:created xsi:type="dcterms:W3CDTF">2006-08-16T00:00:00Z</dcterms:created>
  <dcterms:modified xsi:type="dcterms:W3CDTF">2026-08-17T09:01:12Z</dcterms:modified>
  <dc:identifier>DAHRTjSKlqQ</dc:identifier>
</cp:coreProperties>
</file>
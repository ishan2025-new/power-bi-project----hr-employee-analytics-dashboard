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8288000" cy="10287000"/>
  <p:notesSz cx="6858000" cy="9144000"/>
  <p:embeddedFontLst>
    <p:embeddedFont>
      <p:font typeface="Crimson Pro" panose="020B0604020202020204" charset="0"/>
      <p:regular r:id="rId15"/>
    </p:embeddedFont>
    <p:embeddedFont>
      <p:font typeface="Heebo" pitchFamily="2" charset="-79"/>
      <p:regular r:id="rId16"/>
    </p:embeddedFont>
    <p:embeddedFont>
      <p:font typeface="Heebo Bold" panose="020B0604020202020204" charset="-79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17.08.2026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CABA7-CCC7-737F-858D-76CCB4D9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C22368-136D-5862-4C63-49B72EB27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2989DD-7D0D-031F-3E8E-A742A3AE203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129F3A0-123C-D503-F0B5-DD1FBCC0E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EF58F1EF-876D-0B0F-C342-D6BBD6238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323740-2EC5-6754-E152-74A4B1F6B98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A24948-0E06-A598-D4F4-6D2983AE5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5784872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jpe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jpeg"/><Relationship Id="rId3" Type="http://schemas.openxmlformats.org/officeDocument/2006/relationships/image" Target="../media/image10.jpe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20.sv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856182" y="3398358"/>
            <a:ext cx="9452677" cy="1713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 dirty="0" err="1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Nexora</a:t>
            </a:r>
            <a:r>
              <a:rPr lang="en-US" sz="5554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 HR Employee Analytics Dashboard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5568648"/>
            <a:ext cx="1036776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Using Power BI for Data-Driven HR Decisions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E80F40-BE00-5952-D250-DB7474C448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2061581"/>
            <a:ext cx="16315868" cy="9342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1"/>
              </a:lnSpc>
            </a:pPr>
            <a:r>
              <a:rPr lang="en-US" sz="5554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Agenda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3563350"/>
            <a:ext cx="567461" cy="354635"/>
            <a:chOff x="0" y="0"/>
            <a:chExt cx="756615" cy="4728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92991" y="4007501"/>
            <a:ext cx="5249418" cy="38129"/>
            <a:chOff x="0" y="0"/>
            <a:chExt cx="6999224" cy="5083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992991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 &amp;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Understanding the HR challenge and project goals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6526139" y="3563350"/>
            <a:ext cx="567461" cy="354635"/>
            <a:chOff x="0" y="0"/>
            <a:chExt cx="756615" cy="47284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02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526139" y="4007501"/>
            <a:ext cx="5249418" cy="38129"/>
            <a:chOff x="0" y="0"/>
            <a:chExt cx="6999224" cy="5083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526139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Dataset &amp; Data Cleaning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26139" y="4762862"/>
            <a:ext cx="5249418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dataset, Power Query transformations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2059288" y="3563350"/>
            <a:ext cx="567461" cy="354635"/>
            <a:chOff x="0" y="0"/>
            <a:chExt cx="756615" cy="472846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2059288" y="4007501"/>
            <a:ext cx="5249418" cy="38129"/>
            <a:chOff x="0" y="0"/>
            <a:chExt cx="6999224" cy="508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999224" cy="50800"/>
            </a:xfrm>
            <a:custGeom>
              <a:avLst/>
              <a:gdLst/>
              <a:ahLst/>
              <a:cxnLst/>
              <a:rect l="l" t="t" r="r" b="b"/>
              <a:pathLst>
                <a:path w="6999224" h="50800">
                  <a:moveTo>
                    <a:pt x="0" y="0"/>
                  </a:moveTo>
                  <a:lnTo>
                    <a:pt x="6999224" y="0"/>
                  </a:lnTo>
                  <a:lnTo>
                    <a:pt x="6999224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2059288" y="4196982"/>
            <a:ext cx="5249418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DAX Measures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59288" y="4762862"/>
            <a:ext cx="5249418" cy="9841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Architecture, calculated columns, KPI measures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92991" y="6243457"/>
            <a:ext cx="567461" cy="354635"/>
            <a:chOff x="0" y="0"/>
            <a:chExt cx="756615" cy="47284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92991" y="6687607"/>
            <a:ext cx="8015992" cy="38129"/>
            <a:chOff x="0" y="0"/>
            <a:chExt cx="10687990" cy="5083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992991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Dashboard Architecture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92991" y="7442968"/>
            <a:ext cx="8015992" cy="8692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Interactive dashboard walkthrough with KPIs and Charts</a:t>
            </a:r>
          </a:p>
          <a:p>
            <a:pPr algn="l">
              <a:lnSpc>
                <a:spcPts val="3474"/>
              </a:lnSpc>
            </a:pPr>
            <a:endParaRPr lang="en-US" sz="2176" dirty="0">
              <a:solidFill>
                <a:srgbClr val="4C4C4D"/>
              </a:solidFill>
              <a:latin typeface="Heebo"/>
              <a:ea typeface="Heebo"/>
              <a:cs typeface="Heebo"/>
              <a:sym typeface="Heebo"/>
            </a:endParaRPr>
          </a:p>
        </p:txBody>
      </p:sp>
      <p:grpSp>
        <p:nvGrpSpPr>
          <p:cNvPr id="35" name="Group 35"/>
          <p:cNvGrpSpPr/>
          <p:nvPr/>
        </p:nvGrpSpPr>
        <p:grpSpPr>
          <a:xfrm>
            <a:off x="9292714" y="6243457"/>
            <a:ext cx="567461" cy="354635"/>
            <a:chOff x="0" y="0"/>
            <a:chExt cx="756615" cy="472846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56619" cy="472849"/>
            </a:xfrm>
            <a:custGeom>
              <a:avLst/>
              <a:gdLst/>
              <a:ahLst/>
              <a:cxnLst/>
              <a:rect l="l" t="t" r="r" b="b"/>
              <a:pathLst>
                <a:path w="756619" h="472849">
                  <a:moveTo>
                    <a:pt x="0" y="0"/>
                  </a:moveTo>
                  <a:lnTo>
                    <a:pt x="756619" y="0"/>
                  </a:lnTo>
                  <a:lnTo>
                    <a:pt x="756619" y="472849"/>
                  </a:lnTo>
                  <a:lnTo>
                    <a:pt x="0" y="47284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0183" r="-30182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19050"/>
              <a:ext cx="756615" cy="49189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2"/>
                </a:lnSpc>
              </a:pPr>
              <a:r>
                <a:rPr lang="en-US" sz="21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05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292714" y="6687607"/>
            <a:ext cx="8015992" cy="38129"/>
            <a:chOff x="0" y="0"/>
            <a:chExt cx="10687990" cy="50838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0687939" cy="50800"/>
            </a:xfrm>
            <a:custGeom>
              <a:avLst/>
              <a:gdLst/>
              <a:ahLst/>
              <a:cxnLst/>
              <a:rect l="l" t="t" r="r" b="b"/>
              <a:pathLst>
                <a:path w="10687939" h="50800">
                  <a:moveTo>
                    <a:pt x="0" y="0"/>
                  </a:moveTo>
                  <a:lnTo>
                    <a:pt x="10687939" y="0"/>
                  </a:lnTo>
                  <a:lnTo>
                    <a:pt x="10687939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150F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292714" y="6877088"/>
            <a:ext cx="8015992" cy="471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Insights, Recommendations &amp; Future Scope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92714" y="7442968"/>
            <a:ext cx="8015992" cy="530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Business findings, strategy, and next steps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5C14F32D-0E31-927A-A210-FCEEF0A6FD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496616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Problem Statement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66789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254451" y="294225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Challenge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54451" y="343127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HR departments lack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real-time visibility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into employee attrition patterns, salary distribution, and departmental performance.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77843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254451" y="505280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Impact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54451" y="554182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Reactive decision-making,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high turnover costs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and missed retention opportunities erode organizational performance.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6888985"/>
            <a:ext cx="9452677" cy="1880721"/>
          </a:xfrm>
          <a:custGeom>
            <a:avLst/>
            <a:gdLst/>
            <a:ahLst/>
            <a:cxnLst/>
            <a:rect l="l" t="t" r="r" b="b"/>
            <a:pathLst>
              <a:path w="9452677" h="1880721">
                <a:moveTo>
                  <a:pt x="0" y="0"/>
                </a:moveTo>
                <a:lnTo>
                  <a:pt x="9452677" y="0"/>
                </a:lnTo>
                <a:lnTo>
                  <a:pt x="9452677" y="1880721"/>
                </a:lnTo>
                <a:lnTo>
                  <a:pt x="0" y="188072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362" b="-36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254451" y="7163343"/>
            <a:ext cx="8770525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Solution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54451" y="7652366"/>
            <a:ext cx="8770525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 </a:t>
            </a:r>
            <a:r>
              <a:rPr lang="en-US" sz="19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interactive Power BI dashboard</a:t>
            </a: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enabling data-driven HR strategy — from attrition analysis to compensation benchmarking.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1DB13CC-6F77-04DE-EA53-F905008551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58358" y="3092987"/>
            <a:ext cx="7304951" cy="4109085"/>
            <a:chOff x="0" y="0"/>
            <a:chExt cx="9739935" cy="5478780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739884" cy="5478780"/>
            </a:xfrm>
            <a:custGeom>
              <a:avLst/>
              <a:gdLst/>
              <a:ahLst/>
              <a:cxnLst/>
              <a:rect l="l" t="t" r="r" b="b"/>
              <a:pathLst>
                <a:path w="9739884" h="5478780">
                  <a:moveTo>
                    <a:pt x="0" y="0"/>
                  </a:moveTo>
                  <a:lnTo>
                    <a:pt x="9739884" y="0"/>
                  </a:lnTo>
                  <a:lnTo>
                    <a:pt x="9739884" y="5478780"/>
                  </a:lnTo>
                  <a:lnTo>
                    <a:pt x="0" y="5478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64" b="-6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22557" y="1691583"/>
            <a:ext cx="5395674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Project Objectives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11997033" y="2503313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12567923" y="2478157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Trend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567923" y="2917841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Analyze employee attrition across departments and job roles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11997033" y="3770976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12567923" y="3745821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Visualization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567923" y="4185514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Map salary distribution and compensation patterns across the workforce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11997033" y="5038639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12567923" y="5013484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Workforce Demographics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67923" y="5453177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Surface tenure insights, age distribution, and diversity metrics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11997033" y="6306312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4"/>
                </a:lnTo>
                <a:lnTo>
                  <a:pt x="0" y="2978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12567923" y="6281156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Exploration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567923" y="6720850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Enable slicers, filters, and drill-through for self-service analytics</a:t>
            </a:r>
          </a:p>
        </p:txBody>
      </p:sp>
      <p:sp>
        <p:nvSpPr>
          <p:cNvPr id="21" name="Freeform 21" descr="preencoded.png"/>
          <p:cNvSpPr/>
          <p:nvPr/>
        </p:nvSpPr>
        <p:spPr>
          <a:xfrm>
            <a:off x="11997033" y="7573975"/>
            <a:ext cx="297885" cy="297894"/>
          </a:xfrm>
          <a:custGeom>
            <a:avLst/>
            <a:gdLst/>
            <a:ahLst/>
            <a:cxnLst/>
            <a:rect l="l" t="t" r="r" b="b"/>
            <a:pathLst>
              <a:path w="297885" h="297894">
                <a:moveTo>
                  <a:pt x="0" y="0"/>
                </a:moveTo>
                <a:lnTo>
                  <a:pt x="297885" y="0"/>
                </a:lnTo>
                <a:lnTo>
                  <a:pt x="297885" y="297895"/>
                </a:lnTo>
                <a:lnTo>
                  <a:pt x="0" y="29789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7814" r="-781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TextBox 22"/>
          <p:cNvSpPr txBox="1"/>
          <p:nvPr/>
        </p:nvSpPr>
        <p:spPr>
          <a:xfrm>
            <a:off x="12567923" y="7548820"/>
            <a:ext cx="4750318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Actionable KPIs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567923" y="7988513"/>
            <a:ext cx="4750318" cy="568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Support strategic HR decision-making with measurable business outcomes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4E8FDFE-2CBC-F563-0D94-AE6952FACF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109510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Dataset Overview &amp; Data Cleaning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2429732"/>
            <a:ext cx="3829412" cy="2134676"/>
            <a:chOff x="0" y="0"/>
            <a:chExt cx="5105883" cy="284623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34126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Source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34126" y="3195504"/>
            <a:ext cx="3347142" cy="10596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dirty="0" err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Nexora</a:t>
            </a: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HR Analytics Employee Attrition Dataset — industry-standard benchmark dataset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5027343" y="2429732"/>
            <a:ext cx="3829412" cy="2134676"/>
            <a:chOff x="0" y="0"/>
            <a:chExt cx="5105883" cy="28462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05908" cy="2846197"/>
            </a:xfrm>
            <a:custGeom>
              <a:avLst/>
              <a:gdLst/>
              <a:ahLst/>
              <a:cxnLst/>
              <a:rect l="l" t="t" r="r" b="b"/>
              <a:pathLst>
                <a:path w="5105908" h="2846197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5057648" y="0"/>
                  </a:lnTo>
                  <a:cubicBezTo>
                    <a:pt x="5084318" y="0"/>
                    <a:pt x="5105908" y="21590"/>
                    <a:pt x="5105908" y="48260"/>
                  </a:cubicBezTo>
                  <a:lnTo>
                    <a:pt x="5105908" y="2797937"/>
                  </a:lnTo>
                  <a:cubicBezTo>
                    <a:pt x="5105908" y="2824607"/>
                    <a:pt x="5084318" y="2846197"/>
                    <a:pt x="5057648" y="2846197"/>
                  </a:cubicBezTo>
                  <a:lnTo>
                    <a:pt x="48260" y="2846197"/>
                  </a:lnTo>
                  <a:cubicBezTo>
                    <a:pt x="21590" y="2846197"/>
                    <a:pt x="0" y="2824607"/>
                    <a:pt x="0" y="2797937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268478" y="2642302"/>
            <a:ext cx="3347142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Volume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68478" y="3195504"/>
            <a:ext cx="3347142" cy="1127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1,470 employee records across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35 attributes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covering the full employee lifecycle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92991" y="4769348"/>
            <a:ext cx="7863773" cy="1777803"/>
            <a:chOff x="0" y="0"/>
            <a:chExt cx="10485031" cy="2370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485120" cy="2370455"/>
            </a:xfrm>
            <a:custGeom>
              <a:avLst/>
              <a:gdLst/>
              <a:ahLst/>
              <a:cxnLst/>
              <a:rect l="l" t="t" r="r" b="b"/>
              <a:pathLst>
                <a:path w="10485120" h="2370455">
                  <a:moveTo>
                    <a:pt x="0" y="48260"/>
                  </a:moveTo>
                  <a:cubicBezTo>
                    <a:pt x="0" y="21590"/>
                    <a:pt x="21590" y="0"/>
                    <a:pt x="48260" y="0"/>
                  </a:cubicBezTo>
                  <a:lnTo>
                    <a:pt x="10436860" y="0"/>
                  </a:lnTo>
                  <a:cubicBezTo>
                    <a:pt x="10463530" y="0"/>
                    <a:pt x="10485120" y="21590"/>
                    <a:pt x="10485120" y="48260"/>
                  </a:cubicBezTo>
                  <a:lnTo>
                    <a:pt x="10485120" y="2322195"/>
                  </a:lnTo>
                  <a:cubicBezTo>
                    <a:pt x="10485120" y="2348865"/>
                    <a:pt x="10463530" y="2370455"/>
                    <a:pt x="10436860" y="2370455"/>
                  </a:cubicBezTo>
                  <a:lnTo>
                    <a:pt x="48260" y="2370455"/>
                  </a:lnTo>
                  <a:cubicBezTo>
                    <a:pt x="21590" y="2370455"/>
                    <a:pt x="0" y="2348865"/>
                    <a:pt x="0" y="2322195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34126" y="4981918"/>
            <a:ext cx="738150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Format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34126" y="5535120"/>
            <a:ext cx="738150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Structured CSV file encompassing demographics, compensation, performance &amp; attrition status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54610" y="2375535"/>
            <a:ext cx="7863773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Power Query Transformations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454610" y="301151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1" name="TextBox 21"/>
          <p:cNvSpPr txBox="1"/>
          <p:nvPr/>
        </p:nvSpPr>
        <p:spPr>
          <a:xfrm>
            <a:off x="9838725" y="3252673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Removed Redundant Columns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838725" y="380587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EmployeeCount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Over18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, </a:t>
            </a:r>
            <a:r>
              <a:rPr lang="en-US" sz="1876" i="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StandardHours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constant values with zero analytical value</a:t>
            </a:r>
          </a:p>
        </p:txBody>
      </p:sp>
      <p:sp>
        <p:nvSpPr>
          <p:cNvPr id="23" name="Freeform 23" descr="preencoded.png"/>
          <p:cNvSpPr/>
          <p:nvPr/>
        </p:nvSpPr>
        <p:spPr>
          <a:xfrm>
            <a:off x="9454610" y="5051450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1"/>
                </a:lnTo>
                <a:lnTo>
                  <a:pt x="0" y="18350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4" name="TextBox 24"/>
          <p:cNvSpPr txBox="1"/>
          <p:nvPr/>
        </p:nvSpPr>
        <p:spPr>
          <a:xfrm>
            <a:off x="9838725" y="529261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Data Validation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38725" y="5845816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Verified data types, checked for missing values and duplicate records across all 35 fields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9454610" y="7091401"/>
            <a:ext cx="7863773" cy="1835001"/>
          </a:xfrm>
          <a:custGeom>
            <a:avLst/>
            <a:gdLst/>
            <a:ahLst/>
            <a:cxnLst/>
            <a:rect l="l" t="t" r="r" b="b"/>
            <a:pathLst>
              <a:path w="7863773" h="1835001">
                <a:moveTo>
                  <a:pt x="0" y="0"/>
                </a:moveTo>
                <a:lnTo>
                  <a:pt x="7863774" y="0"/>
                </a:lnTo>
                <a:lnTo>
                  <a:pt x="7863774" y="1835000"/>
                </a:lnTo>
                <a:lnTo>
                  <a:pt x="0" y="1835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325" b="-324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TextBox 27"/>
          <p:cNvSpPr txBox="1"/>
          <p:nvPr/>
        </p:nvSpPr>
        <p:spPr>
          <a:xfrm>
            <a:off x="9838725" y="7332564"/>
            <a:ext cx="7209920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Clean Output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38725" y="7885757"/>
            <a:ext cx="7209920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1,470 records × 32 refined columns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— fully validated and ready for modeling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C80B140-F1E6-C566-F109-B64107F814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85987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Data Model &amp; Calculated Columns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992991" y="1972323"/>
            <a:ext cx="5923674" cy="5923817"/>
            <a:chOff x="0" y="0"/>
            <a:chExt cx="7898232" cy="7898422"/>
          </a:xfrm>
        </p:grpSpPr>
        <p:sp>
          <p:nvSpPr>
            <p:cNvPr id="8" name="Freeform 8" descr="preencoded.png"/>
            <p:cNvSpPr/>
            <p:nvPr/>
          </p:nvSpPr>
          <p:spPr>
            <a:xfrm>
              <a:off x="0" y="0"/>
              <a:ext cx="7898257" cy="7898384"/>
            </a:xfrm>
            <a:custGeom>
              <a:avLst/>
              <a:gdLst/>
              <a:ahLst/>
              <a:cxnLst/>
              <a:rect l="l" t="t" r="r" b="b"/>
              <a:pathLst>
                <a:path w="7898257" h="7898384">
                  <a:moveTo>
                    <a:pt x="0" y="0"/>
                  </a:moveTo>
                  <a:lnTo>
                    <a:pt x="7898257" y="0"/>
                  </a:lnTo>
                  <a:lnTo>
                    <a:pt x="7898257" y="7898384"/>
                  </a:lnTo>
                  <a:lnTo>
                    <a:pt x="0" y="7898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420054" y="3576466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Model Architecture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20054" y="4049382"/>
            <a:ext cx="7898330" cy="1397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Fact Table: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Employee master data with all 32 HR metrics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Dimensions: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Department, Job Role, and Attrition Status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Optimization: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Indexed key columns for fast query performance</a:t>
            </a:r>
          </a:p>
          <a:p>
            <a:pPr marL="299076" lvl="1" indent="-149538" algn="l">
              <a:lnSpc>
                <a:spcPts val="2318"/>
              </a:lnSpc>
              <a:buFont typeface="Arial"/>
              <a:buChar char="•"/>
            </a:pPr>
            <a:r>
              <a:rPr lang="en-US" sz="1651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Scalability:</a:t>
            </a: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Designed to accommodate additional HR data sources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420054" y="5679253"/>
            <a:ext cx="7898330" cy="28594"/>
            <a:chOff x="0" y="0"/>
            <a:chExt cx="10531107" cy="3812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531094" cy="38100"/>
            </a:xfrm>
            <a:custGeom>
              <a:avLst/>
              <a:gdLst/>
              <a:ahLst/>
              <a:cxnLst/>
              <a:rect l="l" t="t" r="r" b="b"/>
              <a:pathLst>
                <a:path w="10531094" h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lnTo>
                    <a:pt x="10512044" y="0"/>
                  </a:lnTo>
                  <a:cubicBezTo>
                    <a:pt x="10522585" y="0"/>
                    <a:pt x="10531094" y="8509"/>
                    <a:pt x="10531094" y="19050"/>
                  </a:cubicBezTo>
                  <a:cubicBezTo>
                    <a:pt x="10531094" y="29591"/>
                    <a:pt x="10522585" y="38100"/>
                    <a:pt x="10512044" y="38100"/>
                  </a:cubicBezTo>
                  <a:lnTo>
                    <a:pt x="19050" y="38100"/>
                  </a:lnTo>
                  <a:cubicBezTo>
                    <a:pt x="8509" y="38100"/>
                    <a:pt x="0" y="29591"/>
                    <a:pt x="0" y="19050"/>
                  </a:cubicBezTo>
                  <a:close/>
                </a:path>
              </a:pathLst>
            </a:custGeom>
            <a:solidFill>
              <a:srgbClr val="4C4C4D">
                <a:alpha val="24706"/>
              </a:srgbClr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9420054" y="5921454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Calculated Columns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992991" y="8255098"/>
            <a:ext cx="8078105" cy="1151344"/>
            <a:chOff x="0" y="0"/>
            <a:chExt cx="10770806" cy="153512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770743" cy="1535049"/>
            </a:xfrm>
            <a:custGeom>
              <a:avLst/>
              <a:gdLst/>
              <a:ahLst/>
              <a:cxnLst/>
              <a:rect l="l" t="t" r="r" b="b"/>
              <a:pathLst>
                <a:path w="10770743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198" y="0"/>
                  </a:lnTo>
                  <a:cubicBezTo>
                    <a:pt x="10751693" y="0"/>
                    <a:pt x="10770743" y="19050"/>
                    <a:pt x="10770743" y="42545"/>
                  </a:cubicBezTo>
                  <a:lnTo>
                    <a:pt x="10770743" y="1492504"/>
                  </a:lnTo>
                  <a:cubicBezTo>
                    <a:pt x="10770743" y="1515999"/>
                    <a:pt x="10751693" y="1535049"/>
                    <a:pt x="10728198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05674" y="8448742"/>
            <a:ext cx="7652728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Age Group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5674" y="8857755"/>
            <a:ext cx="7652728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18–25 · 26–35 · 36–45 · 46–55 · 55+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0601" y="8255098"/>
            <a:ext cx="8078248" cy="1151344"/>
            <a:chOff x="0" y="0"/>
            <a:chExt cx="10770997" cy="15351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770997" cy="1535049"/>
            </a:xfrm>
            <a:custGeom>
              <a:avLst/>
              <a:gdLst/>
              <a:ahLst/>
              <a:cxnLst/>
              <a:rect l="l" t="t" r="r" b="b"/>
              <a:pathLst>
                <a:path w="10770997" h="1535049">
                  <a:moveTo>
                    <a:pt x="0" y="42545"/>
                  </a:moveTo>
                  <a:cubicBezTo>
                    <a:pt x="0" y="19050"/>
                    <a:pt x="19050" y="0"/>
                    <a:pt x="42545" y="0"/>
                  </a:cubicBezTo>
                  <a:lnTo>
                    <a:pt x="10728452" y="0"/>
                  </a:lnTo>
                  <a:cubicBezTo>
                    <a:pt x="10751947" y="0"/>
                    <a:pt x="10770997" y="19050"/>
                    <a:pt x="10770997" y="42545"/>
                  </a:cubicBezTo>
                  <a:lnTo>
                    <a:pt x="10770997" y="1492504"/>
                  </a:lnTo>
                  <a:cubicBezTo>
                    <a:pt x="10770997" y="1515999"/>
                    <a:pt x="10751947" y="1535049"/>
                    <a:pt x="10728452" y="1535049"/>
                  </a:cubicBezTo>
                  <a:lnTo>
                    <a:pt x="42545" y="1535049"/>
                  </a:lnTo>
                  <a:cubicBezTo>
                    <a:pt x="19050" y="1535049"/>
                    <a:pt x="0" y="1515999"/>
                    <a:pt x="0" y="1492504"/>
                  </a:cubicBezTo>
                  <a:close/>
                </a:path>
              </a:pathLst>
            </a:custGeom>
            <a:solidFill>
              <a:srgbClr val="F2EEEE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9443295" y="8448742"/>
            <a:ext cx="7652871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Salary Band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443295" y="8857755"/>
            <a:ext cx="7652871" cy="33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Low · Medium · High · Executive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81874C9-8452-FD9D-8430-4CC9BC5CE3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232240"/>
            <a:ext cx="9452677" cy="82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82"/>
              </a:lnSpc>
            </a:pPr>
            <a:r>
              <a:rPr lang="en-US" sz="495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DAX Measures &amp; KPIs</a:t>
            </a:r>
          </a:p>
        </p:txBody>
      </p:sp>
      <p:sp>
        <p:nvSpPr>
          <p:cNvPr id="9" name="Freeform 9" descr="preencoded.png"/>
          <p:cNvSpPr/>
          <p:nvPr/>
        </p:nvSpPr>
        <p:spPr>
          <a:xfrm>
            <a:off x="7856182" y="240351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4707" r="-1470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TextBox 10"/>
          <p:cNvSpPr txBox="1"/>
          <p:nvPr/>
        </p:nvSpPr>
        <p:spPr>
          <a:xfrm>
            <a:off x="8781698" y="239399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Headcount Metrics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781698" y="288301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Employees, Employees Left, Employees Stayed — the foundational workforce snapshot</a:t>
            </a:r>
          </a:p>
        </p:txBody>
      </p:sp>
      <p:sp>
        <p:nvSpPr>
          <p:cNvPr id="12" name="Freeform 12" descr="preencoded.png"/>
          <p:cNvSpPr/>
          <p:nvPr/>
        </p:nvSpPr>
        <p:spPr>
          <a:xfrm>
            <a:off x="7856182" y="4176103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1031" r="-1103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8781698" y="4166578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Attrition Analysis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81698" y="4655601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Rate (%), Attrition by Department, Attrition by Job Role — pinpointing flight-risk zones</a:t>
            </a:r>
          </a:p>
        </p:txBody>
      </p:sp>
      <p:sp>
        <p:nvSpPr>
          <p:cNvPr id="15" name="Freeform 15" descr="preencoded.png"/>
          <p:cNvSpPr/>
          <p:nvPr/>
        </p:nvSpPr>
        <p:spPr>
          <a:xfrm>
            <a:off x="7856182" y="5948696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9997" b="-49997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TextBox 16"/>
          <p:cNvSpPr txBox="1"/>
          <p:nvPr/>
        </p:nvSpPr>
        <p:spPr>
          <a:xfrm>
            <a:off x="8781698" y="5939171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KPIs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781698" y="6428194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Salary, Maximum Salary, Minimum Salary — enabling pay equity and benchmarking</a:t>
            </a:r>
          </a:p>
        </p:txBody>
      </p:sp>
      <p:sp>
        <p:nvSpPr>
          <p:cNvPr id="18" name="Freeform 18" descr="preencoded.png"/>
          <p:cNvSpPr/>
          <p:nvPr/>
        </p:nvSpPr>
        <p:spPr>
          <a:xfrm>
            <a:off x="7856182" y="7721279"/>
            <a:ext cx="638356" cy="638375"/>
          </a:xfrm>
          <a:custGeom>
            <a:avLst/>
            <a:gdLst/>
            <a:ahLst/>
            <a:cxnLst/>
            <a:rect l="l" t="t" r="r" b="b"/>
            <a:pathLst>
              <a:path w="638356" h="638375">
                <a:moveTo>
                  <a:pt x="0" y="0"/>
                </a:moveTo>
                <a:lnTo>
                  <a:pt x="638356" y="0"/>
                </a:lnTo>
                <a:lnTo>
                  <a:pt x="638356" y="638375"/>
                </a:lnTo>
                <a:lnTo>
                  <a:pt x="0" y="6383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471" r="-147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19"/>
          <p:cNvSpPr txBox="1"/>
          <p:nvPr/>
        </p:nvSpPr>
        <p:spPr>
          <a:xfrm>
            <a:off x="8781698" y="7711754"/>
            <a:ext cx="8527161" cy="408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Demographics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781698" y="8200777"/>
            <a:ext cx="8527161" cy="83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Average Age, Tenure Distribution — revealing workforce maturity and generational composition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946244D-2E8E-5FC2-580E-1B7B175860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92991" y="982904"/>
            <a:ext cx="16315868" cy="7822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01"/>
              </a:lnSpc>
            </a:pPr>
            <a:r>
              <a:rPr lang="en-US" sz="47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Dashboard Page 1: HR Analytics Overview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99697" y="2722731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KPI Cards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99697" y="3275933"/>
            <a:ext cx="7018534" cy="770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Total Employees · Employees Left · </a:t>
            </a:r>
            <a:r>
              <a:rPr lang="en-US" sz="187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Attrition Rate %</a:t>
            </a: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· Average Salary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99697" y="4223195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Visualizations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99697" y="4776397"/>
            <a:ext cx="7018534" cy="1699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Department (bar chart)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Attrition by Job Role (horizontal bar)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Salary Analysis by band</a:t>
            </a:r>
          </a:p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Age Distribution histogram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299697" y="6652327"/>
            <a:ext cx="7018534" cy="40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Interactive Elements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99697" y="7205529"/>
            <a:ext cx="7933630" cy="2852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39859" lvl="1" indent="-169929" algn="l">
              <a:lnSpc>
                <a:spcPts val="2769"/>
              </a:lnSpc>
              <a:buFont typeface="Arial"/>
              <a:buChar char="•"/>
            </a:pPr>
            <a:r>
              <a:rPr lang="en-US" sz="187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Slicers: </a:t>
            </a:r>
            <a:r>
              <a:rPr lang="en-US" sz="187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Department · Job Role · Overtime Status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dirty="0"/>
              <a:t>Age Group Filters: </a:t>
            </a:r>
            <a:r>
              <a:rPr lang="en-US" sz="2000" b="1" dirty="0"/>
              <a:t>30–39 • 40–49 • 50+ • Under 30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Department Selection:</a:t>
            </a:r>
            <a:r>
              <a:rPr lang="en-US" sz="2000" dirty="0"/>
              <a:t> Human Resources, Sales, Research &amp; Development (</a:t>
            </a:r>
            <a:r>
              <a:rPr lang="en-US" sz="2000" dirty="0" err="1"/>
              <a:t>Treemap</a:t>
            </a:r>
            <a:r>
              <a:rPr lang="en-US" sz="2000" dirty="0"/>
              <a:t>)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Cross-filtering:</a:t>
            </a:r>
            <a:r>
              <a:rPr lang="en-US" sz="2000" dirty="0"/>
              <a:t> Selecting an age group or department dynamically updates all KPI cards and visualizations on the dashboard.</a:t>
            </a:r>
          </a:p>
          <a:p>
            <a:pPr marL="339859" lvl="1" indent="-169929">
              <a:lnSpc>
                <a:spcPts val="2769"/>
              </a:lnSpc>
              <a:buFont typeface="Arial"/>
              <a:buChar char="•"/>
            </a:pPr>
            <a:r>
              <a:rPr lang="en-US" sz="2000" b="1" dirty="0"/>
              <a:t>Interactive Dashboard:</a:t>
            </a:r>
            <a:r>
              <a:rPr lang="en-US" sz="2000" dirty="0"/>
              <a:t> All charts are interconnected, enabling users to explore HR metrics through real-time filtering.</a:t>
            </a:r>
            <a:endParaRPr lang="en-US" sz="1876" b="1" dirty="0">
              <a:solidFill>
                <a:srgbClr val="4C4C4D"/>
              </a:solidFill>
              <a:latin typeface="Heebo Bold"/>
              <a:ea typeface="Heebo Bold"/>
              <a:cs typeface="Heebo Bold"/>
              <a:sym typeface="Heebo Bold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BC7EE7-58CC-1363-4BBD-D0212D0DA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406AC8-C2D0-3C03-22F5-3ADE6A09BC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479" y="3112485"/>
            <a:ext cx="8756941" cy="4926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992991" y="1574225"/>
            <a:ext cx="6401753" cy="70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Details &amp; Analysis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2 OF 3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991" y="3186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Detail Table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991" y="3723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Searchable employee records with key HR metrics at a glance — name, role, salary, tenure, satisfaction score.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92991" y="4558170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Salary Analysis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991" y="5094370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Compensation by Job Role with trend indicators highlighting over- and under-paid segments.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991" y="5929503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Satisfaction Metrics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991" y="6465703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years at company — visualizing engagement across tenure bands.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991" y="7300836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92991" y="7837037"/>
            <a:ext cx="7037451" cy="682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employee row to navigate to a </a:t>
            </a:r>
            <a:r>
              <a:rPr lang="en-US" sz="1726" b="1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933427-B28F-B226-17AA-5742BD6194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24F7923-B8BF-C031-D00E-CF87C88BC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6800" y="2621121"/>
            <a:ext cx="8852340" cy="49464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24717-E84E-EA39-9CD9-087D06E61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F7FA04-D3D3-29B1-4145-DAFD038C2A27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443C58E-5A8C-8F0D-3D56-2E00F2800D9B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F5D0245-FE42-8DB5-08B4-A9A2AB321190}"/>
              </a:ext>
            </a:extLst>
          </p:cNvPr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C55446B-4A00-FB57-7049-343604F7E0E8}"/>
                </a:ext>
              </a:extLst>
            </p:cNvPr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D480C064-8814-10F0-BF7A-26D1D4F40FFA}"/>
              </a:ext>
            </a:extLst>
          </p:cNvPr>
          <p:cNvGrpSpPr/>
          <p:nvPr/>
        </p:nvGrpSpPr>
        <p:grpSpPr>
          <a:xfrm>
            <a:off x="992991" y="2798074"/>
            <a:ext cx="1281484" cy="344805"/>
            <a:chOff x="0" y="0"/>
            <a:chExt cx="1708645" cy="45974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E220B74-913C-EE5A-D4AA-61443109F6E3}"/>
                </a:ext>
              </a:extLst>
            </p:cNvPr>
            <p:cNvSpPr/>
            <p:nvPr/>
          </p:nvSpPr>
          <p:spPr>
            <a:xfrm>
              <a:off x="0" y="0"/>
              <a:ext cx="1708658" cy="459740"/>
            </a:xfrm>
            <a:custGeom>
              <a:avLst/>
              <a:gdLst/>
              <a:ahLst/>
              <a:cxnLst/>
              <a:rect l="l" t="t" r="r" b="b"/>
              <a:pathLst>
                <a:path w="1708658" h="459740">
                  <a:moveTo>
                    <a:pt x="0" y="36322"/>
                  </a:moveTo>
                  <a:cubicBezTo>
                    <a:pt x="0" y="16256"/>
                    <a:pt x="16256" y="0"/>
                    <a:pt x="36322" y="0"/>
                  </a:cubicBezTo>
                  <a:lnTo>
                    <a:pt x="1672336" y="0"/>
                  </a:lnTo>
                  <a:cubicBezTo>
                    <a:pt x="1692402" y="0"/>
                    <a:pt x="1708658" y="16256"/>
                    <a:pt x="1708658" y="36322"/>
                  </a:cubicBezTo>
                  <a:lnTo>
                    <a:pt x="1708658" y="423418"/>
                  </a:lnTo>
                  <a:cubicBezTo>
                    <a:pt x="1708658" y="443484"/>
                    <a:pt x="1692402" y="459740"/>
                    <a:pt x="1672336" y="459740"/>
                  </a:cubicBezTo>
                  <a:lnTo>
                    <a:pt x="36322" y="459740"/>
                  </a:lnTo>
                  <a:cubicBezTo>
                    <a:pt x="16256" y="459740"/>
                    <a:pt x="0" y="443484"/>
                    <a:pt x="0" y="423418"/>
                  </a:cubicBezTo>
                  <a:close/>
                </a:path>
              </a:pathLst>
            </a:custGeom>
            <a:solidFill>
              <a:srgbClr val="CCD7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819304-83E1-6E43-E3B0-F08A1ACC2DD9}"/>
              </a:ext>
            </a:extLst>
          </p:cNvPr>
          <p:cNvSpPr txBox="1"/>
          <p:nvPr/>
        </p:nvSpPr>
        <p:spPr>
          <a:xfrm>
            <a:off x="992991" y="1574225"/>
            <a:ext cx="6401753" cy="660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Performance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33843F1-01D8-2B1E-18F3-5241DFB07181}"/>
              </a:ext>
            </a:extLst>
          </p:cNvPr>
          <p:cNvSpPr txBox="1"/>
          <p:nvPr/>
        </p:nvSpPr>
        <p:spPr>
          <a:xfrm>
            <a:off x="1129122" y="2866139"/>
            <a:ext cx="1924317" cy="208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42"/>
              </a:lnSpc>
            </a:pPr>
            <a:r>
              <a:rPr lang="en-US" sz="14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PAGE 3 OF 3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6B49D95-F557-1678-FDF1-E2673428B504}"/>
              </a:ext>
            </a:extLst>
          </p:cNvPr>
          <p:cNvSpPr txBox="1"/>
          <p:nvPr/>
        </p:nvSpPr>
        <p:spPr>
          <a:xfrm>
            <a:off x="992991" y="3186836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Department Summary Table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A5299E4-8AC1-5125-B214-61F0FDE39E86}"/>
              </a:ext>
            </a:extLst>
          </p:cNvPr>
          <p:cNvSpPr txBox="1"/>
          <p:nvPr/>
        </p:nvSpPr>
        <p:spPr>
          <a:xfrm>
            <a:off x="992991" y="3723037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Working years, tenure, income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C44F8FA9-F525-7945-18CB-AEFCF9FEA379}"/>
              </a:ext>
            </a:extLst>
          </p:cNvPr>
          <p:cNvSpPr txBox="1"/>
          <p:nvPr/>
        </p:nvSpPr>
        <p:spPr>
          <a:xfrm>
            <a:off x="992991" y="4204213"/>
            <a:ext cx="7037451" cy="324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Employee Job Role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E802907-83C9-18C1-1C88-329D190FA9FA}"/>
              </a:ext>
            </a:extLst>
          </p:cNvPr>
          <p:cNvSpPr txBox="1"/>
          <p:nvPr/>
        </p:nvSpPr>
        <p:spPr>
          <a:xfrm>
            <a:off x="992991" y="4740413"/>
            <a:ext cx="7037451" cy="306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Left by Job Role and Average Salary by Job Role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193DD98-89FC-C7B4-9B2E-EB8E5B204523}"/>
              </a:ext>
            </a:extLst>
          </p:cNvPr>
          <p:cNvSpPr txBox="1"/>
          <p:nvPr/>
        </p:nvSpPr>
        <p:spPr>
          <a:xfrm>
            <a:off x="992991" y="5219700"/>
            <a:ext cx="7037451" cy="3925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Job Satisfaction breakdown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E4BF538-A678-A818-0603-08FE28241599}"/>
              </a:ext>
            </a:extLst>
          </p:cNvPr>
          <p:cNvSpPr txBox="1"/>
          <p:nvPr/>
        </p:nvSpPr>
        <p:spPr>
          <a:xfrm>
            <a:off x="992991" y="5789960"/>
            <a:ext cx="7037451" cy="948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Job satisfaction levels correlated with sum of years at company, sum of monthly income, and sum of total working years – and visualizing of all tenure bands.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0D2B8E2-1FD8-EBB7-92AD-7043C96537EB}"/>
              </a:ext>
            </a:extLst>
          </p:cNvPr>
          <p:cNvSpPr txBox="1"/>
          <p:nvPr/>
        </p:nvSpPr>
        <p:spPr>
          <a:xfrm>
            <a:off x="992991" y="6946879"/>
            <a:ext cx="7037451" cy="383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dirty="0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Drill-Through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ED16B60-5900-683F-F443-F7D55E5B0816}"/>
              </a:ext>
            </a:extLst>
          </p:cNvPr>
          <p:cNvSpPr txBox="1"/>
          <p:nvPr/>
        </p:nvSpPr>
        <p:spPr>
          <a:xfrm>
            <a:off x="992991" y="7483080"/>
            <a:ext cx="7037451" cy="627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Click any department row to navigate to a </a:t>
            </a:r>
            <a:r>
              <a:rPr lang="en-US" sz="1726" b="1" dirty="0">
                <a:solidFill>
                  <a:srgbClr val="4C4C4D"/>
                </a:solidFill>
                <a:latin typeface="Heebo Bold"/>
                <a:ea typeface="Heebo Bold"/>
                <a:cs typeface="Heebo Bold"/>
                <a:sym typeface="Heebo Bold"/>
              </a:rPr>
              <a:t>detailed individual profile page</a:t>
            </a:r>
            <a:r>
              <a:rPr lang="en-US" sz="1726" dirty="0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 with full HR history.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6631F2F-DBB1-AC78-3F72-FDAEA12575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AEF649-82F8-2E1F-4F5D-1E6B8CFA5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4224" y="2592104"/>
            <a:ext cx="9112630" cy="509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222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6863191" cy="10295039"/>
            <a:chOff x="0" y="0"/>
            <a:chExt cx="9150922" cy="13726719"/>
          </a:xfrm>
        </p:grpSpPr>
        <p:sp>
          <p:nvSpPr>
            <p:cNvPr id="7" name="Freeform 7" descr="preencoded.png"/>
            <p:cNvSpPr/>
            <p:nvPr/>
          </p:nvSpPr>
          <p:spPr>
            <a:xfrm>
              <a:off x="0" y="0"/>
              <a:ext cx="9150858" cy="13726668"/>
            </a:xfrm>
            <a:custGeom>
              <a:avLst/>
              <a:gdLst/>
              <a:ahLst/>
              <a:cxnLst/>
              <a:rect l="l" t="t" r="r" b="b"/>
              <a:pathLst>
                <a:path w="9150858" h="13726668">
                  <a:moveTo>
                    <a:pt x="0" y="0"/>
                  </a:moveTo>
                  <a:lnTo>
                    <a:pt x="9150858" y="0"/>
                  </a:lnTo>
                  <a:lnTo>
                    <a:pt x="9150858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r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856182" y="1043226"/>
            <a:ext cx="9452677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903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Key Business Insights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74092" y="208589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16.1%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856182" y="284008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Overall Attrition Rate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856182" y="322422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237 of 1,470 employees left — above the 10% healthy benchmark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274092" y="398598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20.6%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56182" y="4740173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Sales Dept. Attrition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856182" y="512430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Highest attrition of all departments — a critical retention risk zone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274092" y="5886069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2.3x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856182" y="6640258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Impact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856182" y="7024392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Employees on overtime are 2.3× more likely to leave the organization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74092" y="7786154"/>
            <a:ext cx="6616846" cy="569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83"/>
              </a:lnSpc>
            </a:pPr>
            <a:r>
              <a:rPr lang="en-US" sz="5103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26–35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856182" y="8540344"/>
            <a:ext cx="9452677" cy="329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35"/>
              </a:lnSpc>
            </a:pPr>
            <a:r>
              <a:rPr lang="en-US" sz="1951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Peak Attrition Age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856182" y="8924477"/>
            <a:ext cx="9452677" cy="298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5"/>
              </a:lnSpc>
            </a:pPr>
            <a:r>
              <a:rPr lang="en-US" sz="150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The 26–35 age cohort accounts for the majority of voluntary departures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9F37365-09F2-595E-72C6-3BBBAD0C9A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0F0F1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301840" cy="10295039"/>
            <a:chOff x="0" y="0"/>
            <a:chExt cx="24402453" cy="1372671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02414" cy="13726668"/>
            </a:xfrm>
            <a:custGeom>
              <a:avLst/>
              <a:gdLst/>
              <a:ahLst/>
              <a:cxnLst/>
              <a:rect l="l" t="t" r="r" b="b"/>
              <a:pathLst>
                <a:path w="24402414" h="13726668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92991" y="1381039"/>
            <a:ext cx="16315868" cy="693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52"/>
              </a:lnSpc>
            </a:pPr>
            <a:r>
              <a:rPr lang="en-US" sz="4128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 &amp; Future Scope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2991" y="2454469"/>
            <a:ext cx="7898330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152D47"/>
                </a:solidFill>
                <a:latin typeface="Crimson Pro"/>
                <a:ea typeface="Crimson Pro"/>
                <a:cs typeface="Crimson Pro"/>
                <a:sym typeface="Crimson Pro"/>
              </a:rPr>
              <a:t>Strategic Recommendations</a:t>
            </a:r>
          </a:p>
        </p:txBody>
      </p:sp>
      <p:sp>
        <p:nvSpPr>
          <p:cNvPr id="8" name="Freeform 8" descr="preencoded.png"/>
          <p:cNvSpPr/>
          <p:nvPr/>
        </p:nvSpPr>
        <p:spPr>
          <a:xfrm>
            <a:off x="992991" y="2985440"/>
            <a:ext cx="3869331" cy="2751306"/>
          </a:xfrm>
          <a:custGeom>
            <a:avLst/>
            <a:gdLst/>
            <a:ahLst/>
            <a:cxnLst/>
            <a:rect l="l" t="t" r="r" b="b"/>
            <a:pathLst>
              <a:path w="3869331" h="2751306">
                <a:moveTo>
                  <a:pt x="0" y="0"/>
                </a:moveTo>
                <a:lnTo>
                  <a:pt x="3869331" y="0"/>
                </a:lnTo>
                <a:lnTo>
                  <a:pt x="3869331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3" b="-103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9" name="Group 9"/>
          <p:cNvGrpSpPr/>
          <p:nvPr/>
        </p:nvGrpSpPr>
        <p:grpSpPr>
          <a:xfrm>
            <a:off x="2768060" y="3133639"/>
            <a:ext cx="319183" cy="399021"/>
            <a:chOff x="0" y="0"/>
            <a:chExt cx="425577" cy="53202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1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234269" y="3792884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Targeted Retention Programs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269" y="4265800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Design role-specific retention incentives for Sales and Research roles with highest attrition</a:t>
            </a:r>
          </a:p>
        </p:txBody>
      </p:sp>
      <p:sp>
        <p:nvSpPr>
          <p:cNvPr id="14" name="Freeform 14" descr="preencoded.png"/>
          <p:cNvSpPr/>
          <p:nvPr/>
        </p:nvSpPr>
        <p:spPr>
          <a:xfrm>
            <a:off x="5021837" y="2985440"/>
            <a:ext cx="3869484" cy="2751306"/>
          </a:xfrm>
          <a:custGeom>
            <a:avLst/>
            <a:gdLst/>
            <a:ahLst/>
            <a:cxnLst/>
            <a:rect l="l" t="t" r="r" b="b"/>
            <a:pathLst>
              <a:path w="3869484" h="2751306">
                <a:moveTo>
                  <a:pt x="0" y="0"/>
                </a:moveTo>
                <a:lnTo>
                  <a:pt x="3869484" y="0"/>
                </a:lnTo>
                <a:lnTo>
                  <a:pt x="3869484" y="2751306"/>
                </a:lnTo>
                <a:lnTo>
                  <a:pt x="0" y="27513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105" b="-105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5" name="Group 15"/>
          <p:cNvGrpSpPr/>
          <p:nvPr/>
        </p:nvGrpSpPr>
        <p:grpSpPr>
          <a:xfrm>
            <a:off x="6796907" y="3133639"/>
            <a:ext cx="319183" cy="399021"/>
            <a:chOff x="0" y="0"/>
            <a:chExt cx="425577" cy="53202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2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263115" y="3792884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Overtime Policy Reform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263115" y="4265800"/>
            <a:ext cx="3386909" cy="1229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Cap excessive overtime and introduce flexible work arrangements to reduce the 2.3× attrition multiplier</a:t>
            </a:r>
          </a:p>
        </p:txBody>
      </p:sp>
      <p:sp>
        <p:nvSpPr>
          <p:cNvPr id="20" name="Freeform 20" descr="preencoded.png"/>
          <p:cNvSpPr/>
          <p:nvPr/>
        </p:nvSpPr>
        <p:spPr>
          <a:xfrm>
            <a:off x="992991" y="5896270"/>
            <a:ext cx="3869331" cy="2453411"/>
          </a:xfrm>
          <a:custGeom>
            <a:avLst/>
            <a:gdLst/>
            <a:ahLst/>
            <a:cxnLst/>
            <a:rect l="l" t="t" r="r" b="b"/>
            <a:pathLst>
              <a:path w="3869331" h="2453411">
                <a:moveTo>
                  <a:pt x="0" y="0"/>
                </a:moveTo>
                <a:lnTo>
                  <a:pt x="3869331" y="0"/>
                </a:lnTo>
                <a:lnTo>
                  <a:pt x="3869331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1" b="-180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2768060" y="6044460"/>
            <a:ext cx="319183" cy="399021"/>
            <a:chOff x="0" y="0"/>
            <a:chExt cx="425577" cy="53202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34269" y="6703705"/>
            <a:ext cx="3386766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Early-Career Engagement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269" y="7176621"/>
            <a:ext cx="3386766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Implement structured mentorship and career ladders for the high-risk 26–35 cohort</a:t>
            </a:r>
          </a:p>
        </p:txBody>
      </p:sp>
      <p:sp>
        <p:nvSpPr>
          <p:cNvPr id="26" name="Freeform 26" descr="preencoded.png"/>
          <p:cNvSpPr/>
          <p:nvPr/>
        </p:nvSpPr>
        <p:spPr>
          <a:xfrm>
            <a:off x="5021837" y="5896270"/>
            <a:ext cx="3869484" cy="2453411"/>
          </a:xfrm>
          <a:custGeom>
            <a:avLst/>
            <a:gdLst/>
            <a:ahLst/>
            <a:cxnLst/>
            <a:rect l="l" t="t" r="r" b="b"/>
            <a:pathLst>
              <a:path w="3869484" h="2453411">
                <a:moveTo>
                  <a:pt x="0" y="0"/>
                </a:moveTo>
                <a:lnTo>
                  <a:pt x="3869484" y="0"/>
                </a:lnTo>
                <a:lnTo>
                  <a:pt x="3869484" y="2453412"/>
                </a:lnTo>
                <a:lnTo>
                  <a:pt x="0" y="24534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183" b="-182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7" name="Group 27"/>
          <p:cNvGrpSpPr/>
          <p:nvPr/>
        </p:nvGrpSpPr>
        <p:grpSpPr>
          <a:xfrm>
            <a:off x="6796907" y="6044460"/>
            <a:ext cx="319183" cy="399021"/>
            <a:chOff x="0" y="0"/>
            <a:chExt cx="425577" cy="53202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5572" cy="532030"/>
            </a:xfrm>
            <a:custGeom>
              <a:avLst/>
              <a:gdLst/>
              <a:ahLst/>
              <a:cxnLst/>
              <a:rect l="l" t="t" r="r" b="b"/>
              <a:pathLst>
                <a:path w="425572" h="532030">
                  <a:moveTo>
                    <a:pt x="0" y="0"/>
                  </a:moveTo>
                  <a:lnTo>
                    <a:pt x="425572" y="0"/>
                  </a:lnTo>
                  <a:lnTo>
                    <a:pt x="425572" y="532030"/>
                  </a:lnTo>
                  <a:lnTo>
                    <a:pt x="0" y="5320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110397" r="-110398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0"/>
              <a:ext cx="425577" cy="53202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972"/>
                </a:lnSpc>
              </a:pPr>
              <a:r>
                <a:rPr lang="en-US" sz="2476">
                  <a:solidFill>
                    <a:srgbClr val="4C4C4D"/>
                  </a:solidFill>
                  <a:latin typeface="Crimson Pro"/>
                  <a:ea typeface="Crimson Pro"/>
                  <a:cs typeface="Crimson Pro"/>
                  <a:sym typeface="Crimson Pro"/>
                </a:rPr>
                <a:t>4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5263115" y="6703705"/>
            <a:ext cx="3386909" cy="351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lang="en-US" sz="2026">
                <a:solidFill>
                  <a:srgbClr val="4C4C4D"/>
                </a:solidFill>
                <a:latin typeface="Crimson Pro"/>
                <a:ea typeface="Crimson Pro"/>
                <a:cs typeface="Crimson Pro"/>
                <a:sym typeface="Crimson Pro"/>
              </a:rPr>
              <a:t>Compensation Benchmarking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63115" y="7176621"/>
            <a:ext cx="3386909" cy="9317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18"/>
              </a:lnSpc>
            </a:pPr>
            <a:r>
              <a:rPr lang="en-US" sz="1651">
                <a:solidFill>
                  <a:srgbClr val="4C4C4D"/>
                </a:solidFill>
                <a:latin typeface="Heebo"/>
                <a:ea typeface="Heebo"/>
                <a:cs typeface="Heebo"/>
                <a:sym typeface="Heebo"/>
              </a:rPr>
              <a:t>Align salary bands with market data to close pay gaps identified in the dashboard</a:t>
            </a:r>
          </a:p>
        </p:txBody>
      </p:sp>
      <p:sp>
        <p:nvSpPr>
          <p:cNvPr id="51" name="Freeform 51" descr="preencoded.png"/>
          <p:cNvSpPr/>
          <p:nvPr/>
        </p:nvSpPr>
        <p:spPr>
          <a:xfrm>
            <a:off x="10217934" y="7065035"/>
            <a:ext cx="319183" cy="319192"/>
          </a:xfrm>
          <a:custGeom>
            <a:avLst/>
            <a:gdLst/>
            <a:ahLst/>
            <a:cxnLst/>
            <a:rect l="l" t="t" r="r" b="b"/>
            <a:pathLst>
              <a:path w="319183" h="319192">
                <a:moveTo>
                  <a:pt x="0" y="0"/>
                </a:moveTo>
                <a:lnTo>
                  <a:pt x="319183" y="0"/>
                </a:lnTo>
                <a:lnTo>
                  <a:pt x="319183" y="319193"/>
                </a:lnTo>
                <a:lnTo>
                  <a:pt x="0" y="3191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26468" b="-26465"/>
            </a:stretch>
          </a:blipFill>
        </p:spPr>
        <p:txBody>
          <a:bodyPr/>
          <a:lstStyle/>
          <a:p>
            <a:endParaRPr lang="en-IN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F5FADFC-F566-75B4-9298-B53B2D6AFF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0" y="342900"/>
            <a:ext cx="3113695" cy="910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871</Words>
  <Application>Microsoft Office PowerPoint</Application>
  <PresentationFormat>Custom</PresentationFormat>
  <Paragraphs>167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Calibri</vt:lpstr>
      <vt:lpstr>Heebo</vt:lpstr>
      <vt:lpstr>Arial</vt:lpstr>
      <vt:lpstr>Crimson Pro</vt:lpstr>
      <vt:lpstr>Heebo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HR-Employee-Analytics-Dashboard.pptx</dc:title>
  <cp:lastModifiedBy>Rudrashis Chowdhury</cp:lastModifiedBy>
  <cp:revision>9</cp:revision>
  <dcterms:created xsi:type="dcterms:W3CDTF">2006-08-16T00:00:00Z</dcterms:created>
  <dcterms:modified xsi:type="dcterms:W3CDTF">2026-08-17T07:43:04Z</dcterms:modified>
  <dc:identifier>DAHRTjSKlqQ</dc:identifier>
</cp:coreProperties>
</file>
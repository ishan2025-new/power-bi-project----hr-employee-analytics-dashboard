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rimson Pro" panose="020B0604020202020204" charset="0"/>
      <p:regular r:id="rId14"/>
    </p:embeddedFont>
    <p:embeddedFont>
      <p:font typeface="Heebo" pitchFamily="2" charset="-79"/>
      <p:regular r:id="rId15"/>
    </p:embeddedFont>
    <p:embeddedFont>
      <p:font typeface="Heebo Bold" panose="020B0604020202020204" charset="-79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9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3.jpeg"/><Relationship Id="rId9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6182" y="3398358"/>
            <a:ext cx="9452677" cy="182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HR Employee Analytics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6182" y="5568648"/>
            <a:ext cx="1036776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Using Power BI for Data-Driven HR Decisions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80F40-BE00-5952-D250-DB7474C448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2061581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Agenda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563350"/>
            <a:ext cx="567461" cy="354635"/>
            <a:chOff x="0" y="0"/>
            <a:chExt cx="756615" cy="472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991" y="4007501"/>
            <a:ext cx="5249418" cy="38129"/>
            <a:chOff x="0" y="0"/>
            <a:chExt cx="6999224" cy="50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991" y="4196982"/>
            <a:ext cx="524941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Problem Statement &amp; 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991" y="4762862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Understanding the HR challenge and project goals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26139" y="3563350"/>
            <a:ext cx="567461" cy="354635"/>
            <a:chOff x="0" y="0"/>
            <a:chExt cx="756615" cy="4728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6139" y="4007501"/>
            <a:ext cx="5249418" cy="38129"/>
            <a:chOff x="0" y="0"/>
            <a:chExt cx="6999224" cy="508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526139" y="4196982"/>
            <a:ext cx="524941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Dataset &amp; Data Cleaning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6139" y="4762862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IBM HR dataset, Power Query transformations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59288" y="3563350"/>
            <a:ext cx="567461" cy="354635"/>
            <a:chOff x="0" y="0"/>
            <a:chExt cx="756615" cy="4728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59288" y="4007501"/>
            <a:ext cx="5249418" cy="38129"/>
            <a:chOff x="0" y="0"/>
            <a:chExt cx="6999224" cy="50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059288" y="4196982"/>
            <a:ext cx="524941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 Model &amp; DAX Measures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59288" y="4762862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Architecture, calculated columns, KPI measures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2991" y="6243457"/>
            <a:ext cx="567461" cy="354635"/>
            <a:chOff x="0" y="0"/>
            <a:chExt cx="756615" cy="47284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2991" y="6687607"/>
            <a:ext cx="8015992" cy="38129"/>
            <a:chOff x="0" y="0"/>
            <a:chExt cx="10687990" cy="508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87939" cy="50800"/>
            </a:xfrm>
            <a:custGeom>
              <a:avLst/>
              <a:gdLst/>
              <a:ahLst/>
              <a:cxnLst/>
              <a:rect l="l" t="t" r="r" b="b"/>
              <a:pathLst>
                <a:path w="10687939" h="50800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92991" y="6877088"/>
            <a:ext cx="801599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Dashboard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2991" y="7442968"/>
            <a:ext cx="801599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Three-page interactive dashboard walkthrough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92714" y="6243457"/>
            <a:ext cx="567461" cy="354635"/>
            <a:chOff x="0" y="0"/>
            <a:chExt cx="756615" cy="47284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05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92714" y="6687607"/>
            <a:ext cx="8015992" cy="38129"/>
            <a:chOff x="0" y="0"/>
            <a:chExt cx="10687990" cy="508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687939" cy="50800"/>
            </a:xfrm>
            <a:custGeom>
              <a:avLst/>
              <a:gdLst/>
              <a:ahLst/>
              <a:cxnLst/>
              <a:rect l="l" t="t" r="r" b="b"/>
              <a:pathLst>
                <a:path w="10687939" h="50800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292714" y="6877088"/>
            <a:ext cx="801599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Insights, Recommendations &amp; Future Scope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92714" y="7442968"/>
            <a:ext cx="801599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Business findings, strategy, and next steps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C14F32D-0E31-927A-A210-FCEEF0A6F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6182" y="1496616"/>
            <a:ext cx="9452677" cy="82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Problem Statement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7856182" y="2667895"/>
            <a:ext cx="9452677" cy="1880721"/>
          </a:xfrm>
          <a:custGeom>
            <a:avLst/>
            <a:gdLst/>
            <a:ahLst/>
            <a:cxnLst/>
            <a:rect l="l" t="t" r="r" b="b"/>
            <a:pathLst>
              <a:path w="9452677" h="1880721">
                <a:moveTo>
                  <a:pt x="0" y="0"/>
                </a:moveTo>
                <a:lnTo>
                  <a:pt x="9452677" y="0"/>
                </a:lnTo>
                <a:lnTo>
                  <a:pt x="9452677" y="1880721"/>
                </a:lnTo>
                <a:lnTo>
                  <a:pt x="0" y="1880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2" b="-3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8254451" y="2942253"/>
            <a:ext cx="877052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Challenge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4451" y="3431276"/>
            <a:ext cx="8770525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HR departments lack </a:t>
            </a:r>
            <a:r>
              <a:rPr lang="en-US" sz="19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real-time visibility</a:t>
            </a: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into employee attrition patterns, salary distribution, and departmental performance.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56182" y="4778435"/>
            <a:ext cx="9452677" cy="1880721"/>
          </a:xfrm>
          <a:custGeom>
            <a:avLst/>
            <a:gdLst/>
            <a:ahLst/>
            <a:cxnLst/>
            <a:rect l="l" t="t" r="r" b="b"/>
            <a:pathLst>
              <a:path w="9452677" h="1880721">
                <a:moveTo>
                  <a:pt x="0" y="0"/>
                </a:moveTo>
                <a:lnTo>
                  <a:pt x="9452677" y="0"/>
                </a:lnTo>
                <a:lnTo>
                  <a:pt x="9452677" y="1880721"/>
                </a:lnTo>
                <a:lnTo>
                  <a:pt x="0" y="1880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2" b="-3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254451" y="5052803"/>
            <a:ext cx="877052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Impact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54451" y="5541826"/>
            <a:ext cx="8770525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Reactive decision-making, </a:t>
            </a:r>
            <a:r>
              <a:rPr lang="en-US" sz="19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high turnover costs</a:t>
            </a: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and missed retention opportunities erode organizational performance.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7856182" y="6888985"/>
            <a:ext cx="9452677" cy="1880721"/>
          </a:xfrm>
          <a:custGeom>
            <a:avLst/>
            <a:gdLst/>
            <a:ahLst/>
            <a:cxnLst/>
            <a:rect l="l" t="t" r="r" b="b"/>
            <a:pathLst>
              <a:path w="9452677" h="1880721">
                <a:moveTo>
                  <a:pt x="0" y="0"/>
                </a:moveTo>
                <a:lnTo>
                  <a:pt x="9452677" y="0"/>
                </a:lnTo>
                <a:lnTo>
                  <a:pt x="9452677" y="1880721"/>
                </a:lnTo>
                <a:lnTo>
                  <a:pt x="0" y="1880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2" b="-3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8254451" y="7163343"/>
            <a:ext cx="877052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54451" y="7652366"/>
            <a:ext cx="8770525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 </a:t>
            </a:r>
            <a:r>
              <a:rPr lang="en-US" sz="19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interactive Power BI dashboard</a:t>
            </a: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enabling data-driven HR strategy — from attrition analysis to compensation benchmarking.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DB13CC-6F77-04DE-EA53-F90500855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58358" y="3092987"/>
            <a:ext cx="7304951" cy="4109085"/>
            <a:chOff x="0" y="0"/>
            <a:chExt cx="9739935" cy="547878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739884" cy="5478780"/>
            </a:xfrm>
            <a:custGeom>
              <a:avLst/>
              <a:gdLst/>
              <a:ahLst/>
              <a:cxnLst/>
              <a:rect l="l" t="t" r="r" b="b"/>
              <a:pathLst>
                <a:path w="9739884" h="5478780">
                  <a:moveTo>
                    <a:pt x="0" y="0"/>
                  </a:moveTo>
                  <a:lnTo>
                    <a:pt x="9739884" y="0"/>
                  </a:lnTo>
                  <a:lnTo>
                    <a:pt x="9739884" y="5478780"/>
                  </a:lnTo>
                  <a:lnTo>
                    <a:pt x="0" y="5478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4" b="-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922557" y="1691583"/>
            <a:ext cx="5395674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Project Objectives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997033" y="2503313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2567923" y="2478157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Attrition Trend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67923" y="2917841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Analyze employee attrition across departments and job roles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1997033" y="3770976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567923" y="3745821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 Visualization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67923" y="4185514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Map salary distribution and compensation patterns across the workforce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997033" y="5038639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5"/>
                </a:lnTo>
                <a:lnTo>
                  <a:pt x="0" y="29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2567923" y="5013484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Workforce Demographics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67923" y="5453177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Surface tenure insights, age distribution, and diversity metrics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11997033" y="6306312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2567923" y="6281156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Interactive Exploration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7923" y="6720850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Enable slicers, filters, and drill-through for self-service analytics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11997033" y="7573975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5"/>
                </a:lnTo>
                <a:lnTo>
                  <a:pt x="0" y="29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2567923" y="7548820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Actionable KPIs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67923" y="7988513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Support strategic HR decision-making with measurable business outcomes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4E8FDFE-2CBC-F563-0D94-AE6952FAC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1109510"/>
            <a:ext cx="16315868" cy="78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Dataset Overview &amp; Data Cleaning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2429732"/>
            <a:ext cx="3829412" cy="2134676"/>
            <a:chOff x="0" y="0"/>
            <a:chExt cx="5105883" cy="28462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05908" cy="2846197"/>
            </a:xfrm>
            <a:custGeom>
              <a:avLst/>
              <a:gdLst/>
              <a:ahLst/>
              <a:cxnLst/>
              <a:rect l="l" t="t" r="r" b="b"/>
              <a:pathLst>
                <a:path w="5105908" h="2846197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5057648" y="0"/>
                  </a:lnTo>
                  <a:cubicBezTo>
                    <a:pt x="5084318" y="0"/>
                    <a:pt x="5105908" y="21590"/>
                    <a:pt x="5105908" y="48260"/>
                  </a:cubicBezTo>
                  <a:lnTo>
                    <a:pt x="5105908" y="2797937"/>
                  </a:lnTo>
                  <a:cubicBezTo>
                    <a:pt x="5105908" y="2824607"/>
                    <a:pt x="5084318" y="2846197"/>
                    <a:pt x="5057648" y="2846197"/>
                  </a:cubicBezTo>
                  <a:lnTo>
                    <a:pt x="48260" y="2846197"/>
                  </a:lnTo>
                  <a:cubicBezTo>
                    <a:pt x="21590" y="2846197"/>
                    <a:pt x="0" y="2824607"/>
                    <a:pt x="0" y="279793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4126" y="2642302"/>
            <a:ext cx="3347142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Source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126" y="3195504"/>
            <a:ext cx="3347142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IBM HR Analytics Employee Attrition Dataset — industry-standard benchmark dataset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027343" y="2429732"/>
            <a:ext cx="3829412" cy="2134676"/>
            <a:chOff x="0" y="0"/>
            <a:chExt cx="5105883" cy="284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05908" cy="2846197"/>
            </a:xfrm>
            <a:custGeom>
              <a:avLst/>
              <a:gdLst/>
              <a:ahLst/>
              <a:cxnLst/>
              <a:rect l="l" t="t" r="r" b="b"/>
              <a:pathLst>
                <a:path w="5105908" h="2846197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5057648" y="0"/>
                  </a:lnTo>
                  <a:cubicBezTo>
                    <a:pt x="5084318" y="0"/>
                    <a:pt x="5105908" y="21590"/>
                    <a:pt x="5105908" y="48260"/>
                  </a:cubicBezTo>
                  <a:lnTo>
                    <a:pt x="5105908" y="2797937"/>
                  </a:lnTo>
                  <a:cubicBezTo>
                    <a:pt x="5105908" y="2824607"/>
                    <a:pt x="5084318" y="2846197"/>
                    <a:pt x="5057648" y="2846197"/>
                  </a:cubicBezTo>
                  <a:lnTo>
                    <a:pt x="48260" y="2846197"/>
                  </a:lnTo>
                  <a:cubicBezTo>
                    <a:pt x="21590" y="2846197"/>
                    <a:pt x="0" y="2824607"/>
                    <a:pt x="0" y="279793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68478" y="2642302"/>
            <a:ext cx="3347142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Volume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68478" y="3195504"/>
            <a:ext cx="3347142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1,470 employee records across </a:t>
            </a: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35 attributes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covering the full employee lifecycle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991" y="4769348"/>
            <a:ext cx="7863773" cy="1777803"/>
            <a:chOff x="0" y="0"/>
            <a:chExt cx="10485031" cy="2370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85120" cy="2370455"/>
            </a:xfrm>
            <a:custGeom>
              <a:avLst/>
              <a:gdLst/>
              <a:ahLst/>
              <a:cxnLst/>
              <a:rect l="l" t="t" r="r" b="b"/>
              <a:pathLst>
                <a:path w="10485120" h="2370455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0436860" y="0"/>
                  </a:lnTo>
                  <a:cubicBezTo>
                    <a:pt x="10463530" y="0"/>
                    <a:pt x="10485120" y="21590"/>
                    <a:pt x="10485120" y="48260"/>
                  </a:cubicBezTo>
                  <a:lnTo>
                    <a:pt x="10485120" y="2322195"/>
                  </a:lnTo>
                  <a:cubicBezTo>
                    <a:pt x="10485120" y="2348865"/>
                    <a:pt x="10463530" y="2370455"/>
                    <a:pt x="10436860" y="2370455"/>
                  </a:cubicBezTo>
                  <a:lnTo>
                    <a:pt x="48260" y="2370455"/>
                  </a:lnTo>
                  <a:cubicBezTo>
                    <a:pt x="21590" y="2370455"/>
                    <a:pt x="0" y="2348865"/>
                    <a:pt x="0" y="2322195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4126" y="4981918"/>
            <a:ext cx="738150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Format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4126" y="5535120"/>
            <a:ext cx="7381504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Structured CSV file encompassing demographics, compensation, performance &amp; attrition status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4610" y="2375535"/>
            <a:ext cx="7863773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Power Query Transformations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454610" y="3011510"/>
            <a:ext cx="7863773" cy="1835001"/>
          </a:xfrm>
          <a:custGeom>
            <a:avLst/>
            <a:gdLst/>
            <a:ahLst/>
            <a:cxnLst/>
            <a:rect l="l" t="t" r="r" b="b"/>
            <a:pathLst>
              <a:path w="7863773" h="1835001">
                <a:moveTo>
                  <a:pt x="0" y="0"/>
                </a:moveTo>
                <a:lnTo>
                  <a:pt x="7863774" y="0"/>
                </a:lnTo>
                <a:lnTo>
                  <a:pt x="7863774" y="1835000"/>
                </a:lnTo>
                <a:lnTo>
                  <a:pt x="0" y="183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5" b="-3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838725" y="3252673"/>
            <a:ext cx="7209920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Removed Redundant Columns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38725" y="3805876"/>
            <a:ext cx="7209920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EmployeeCount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lang="en-US" sz="18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Over18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lang="en-US" sz="18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StandardHours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constant values with zero analytical value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454610" y="5051450"/>
            <a:ext cx="7863773" cy="1835001"/>
          </a:xfrm>
          <a:custGeom>
            <a:avLst/>
            <a:gdLst/>
            <a:ahLst/>
            <a:cxnLst/>
            <a:rect l="l" t="t" r="r" b="b"/>
            <a:pathLst>
              <a:path w="7863773" h="1835001">
                <a:moveTo>
                  <a:pt x="0" y="0"/>
                </a:moveTo>
                <a:lnTo>
                  <a:pt x="7863774" y="0"/>
                </a:lnTo>
                <a:lnTo>
                  <a:pt x="7863774" y="1835001"/>
                </a:lnTo>
                <a:lnTo>
                  <a:pt x="0" y="1835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5" b="-3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9838725" y="5292614"/>
            <a:ext cx="7209920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 Validation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8725" y="5845816"/>
            <a:ext cx="7209920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Verified data types, checked for missing values and duplicate records across all 35 fields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9454610" y="7091401"/>
            <a:ext cx="7863773" cy="1835001"/>
          </a:xfrm>
          <a:custGeom>
            <a:avLst/>
            <a:gdLst/>
            <a:ahLst/>
            <a:cxnLst/>
            <a:rect l="l" t="t" r="r" b="b"/>
            <a:pathLst>
              <a:path w="7863773" h="1835001">
                <a:moveTo>
                  <a:pt x="0" y="0"/>
                </a:moveTo>
                <a:lnTo>
                  <a:pt x="7863774" y="0"/>
                </a:lnTo>
                <a:lnTo>
                  <a:pt x="7863774" y="1835000"/>
                </a:lnTo>
                <a:lnTo>
                  <a:pt x="0" y="183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5" b="-3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9838725" y="7332564"/>
            <a:ext cx="7209920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Clean Output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38725" y="7885757"/>
            <a:ext cx="7209920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1,470 records × 32 refined columns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fully validated and ready for modeling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80B140-F1E6-C566-F109-B64107F81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859879"/>
            <a:ext cx="16315868" cy="69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Data Model &amp; Calculated Columns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1972323"/>
            <a:ext cx="5923674" cy="5923817"/>
            <a:chOff x="0" y="0"/>
            <a:chExt cx="7898232" cy="789842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7898257" cy="7898384"/>
            </a:xfrm>
            <a:custGeom>
              <a:avLst/>
              <a:gdLst/>
              <a:ahLst/>
              <a:cxnLst/>
              <a:rect l="l" t="t" r="r" b="b"/>
              <a:pathLst>
                <a:path w="7898257" h="7898384">
                  <a:moveTo>
                    <a:pt x="0" y="0"/>
                  </a:moveTo>
                  <a:lnTo>
                    <a:pt x="7898257" y="0"/>
                  </a:lnTo>
                  <a:lnTo>
                    <a:pt x="7898257" y="7898384"/>
                  </a:lnTo>
                  <a:lnTo>
                    <a:pt x="0" y="7898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420054" y="3576466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Model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0054" y="4049382"/>
            <a:ext cx="7898330" cy="139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Fact Table: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Employee master data with all 32 HR metrics</a:t>
            </a:r>
          </a:p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Dimensions: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Department, Job Role, and Attrition Status</a:t>
            </a:r>
          </a:p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Optimization: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Indexed key columns for fast query performance</a:t>
            </a:r>
          </a:p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Scalability: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Designed to accommodate additional HR data sources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20054" y="5679253"/>
            <a:ext cx="7898330" cy="28594"/>
            <a:chOff x="0" y="0"/>
            <a:chExt cx="10531107" cy="38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31094" cy="38100"/>
            </a:xfrm>
            <a:custGeom>
              <a:avLst/>
              <a:gdLst/>
              <a:ahLst/>
              <a:cxnLst/>
              <a:rect l="l" t="t" r="r" b="b"/>
              <a:pathLst>
                <a:path w="1053109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512044" y="0"/>
                  </a:lnTo>
                  <a:cubicBezTo>
                    <a:pt x="10522585" y="0"/>
                    <a:pt x="10531094" y="8509"/>
                    <a:pt x="10531094" y="19050"/>
                  </a:cubicBezTo>
                  <a:cubicBezTo>
                    <a:pt x="10531094" y="29591"/>
                    <a:pt x="10522585" y="38100"/>
                    <a:pt x="1051204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C4C4D">
                <a:alpha val="2470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20054" y="5921454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Calculated Columns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991" y="8255098"/>
            <a:ext cx="8078105" cy="1151344"/>
            <a:chOff x="0" y="0"/>
            <a:chExt cx="10770806" cy="15351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70743" cy="1535049"/>
            </a:xfrm>
            <a:custGeom>
              <a:avLst/>
              <a:gdLst/>
              <a:ahLst/>
              <a:cxnLst/>
              <a:rect l="l" t="t" r="r" b="b"/>
              <a:pathLst>
                <a:path w="10770743" h="1535049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0728198" y="0"/>
                  </a:lnTo>
                  <a:cubicBezTo>
                    <a:pt x="10751693" y="0"/>
                    <a:pt x="10770743" y="19050"/>
                    <a:pt x="10770743" y="42545"/>
                  </a:cubicBezTo>
                  <a:lnTo>
                    <a:pt x="10770743" y="1492504"/>
                  </a:lnTo>
                  <a:cubicBezTo>
                    <a:pt x="10770743" y="1515999"/>
                    <a:pt x="10751693" y="1535049"/>
                    <a:pt x="10728198" y="1535049"/>
                  </a:cubicBezTo>
                  <a:lnTo>
                    <a:pt x="42545" y="1535049"/>
                  </a:lnTo>
                  <a:cubicBezTo>
                    <a:pt x="19050" y="1535049"/>
                    <a:pt x="0" y="1515999"/>
                    <a:pt x="0" y="149250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05674" y="8448742"/>
            <a:ext cx="7652728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Age Group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674" y="8857755"/>
            <a:ext cx="7652728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18–25 · 26–35 · 36–45 · 46–55 · 55+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30601" y="8255098"/>
            <a:ext cx="8078248" cy="1151344"/>
            <a:chOff x="0" y="0"/>
            <a:chExt cx="10770997" cy="15351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70997" cy="1535049"/>
            </a:xfrm>
            <a:custGeom>
              <a:avLst/>
              <a:gdLst/>
              <a:ahLst/>
              <a:cxnLst/>
              <a:rect l="l" t="t" r="r" b="b"/>
              <a:pathLst>
                <a:path w="10770997" h="1535049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0728452" y="0"/>
                  </a:lnTo>
                  <a:cubicBezTo>
                    <a:pt x="10751947" y="0"/>
                    <a:pt x="10770997" y="19050"/>
                    <a:pt x="10770997" y="42545"/>
                  </a:cubicBezTo>
                  <a:lnTo>
                    <a:pt x="10770997" y="1492504"/>
                  </a:lnTo>
                  <a:cubicBezTo>
                    <a:pt x="10770997" y="1515999"/>
                    <a:pt x="10751947" y="1535049"/>
                    <a:pt x="10728452" y="1535049"/>
                  </a:cubicBezTo>
                  <a:lnTo>
                    <a:pt x="42545" y="1535049"/>
                  </a:lnTo>
                  <a:cubicBezTo>
                    <a:pt x="19050" y="1535049"/>
                    <a:pt x="0" y="1515999"/>
                    <a:pt x="0" y="149250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43295" y="8448742"/>
            <a:ext cx="7652871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Salary Band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43295" y="8857755"/>
            <a:ext cx="7652871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Low · Medium · High · Executive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1874C9-8452-FD9D-8430-4CC9BC5CE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6182" y="1232240"/>
            <a:ext cx="9452677" cy="82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DAX Measures &amp; KPIs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7856182" y="2403519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707" r="-1470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8781698" y="2393994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Headcount Metrics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1698" y="2883017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Total Employees, Employees Left, Employees Stayed — the foundational workforce snapshot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56182" y="4176103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031" r="-1103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781698" y="4166578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Attrition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81698" y="4655601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Attrition Rate (%), Attrition by Department, Attrition by Job Role — pinpointing flight-risk zones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7856182" y="5948696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49997" b="-4999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8781698" y="5939171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 KPIs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1698" y="6428194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Salary, Maximum Salary, Minimum Salary — enabling pay equity and benchmarking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7856182" y="7721279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71" r="-147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8781698" y="7711754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Demographics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1698" y="8200777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Age, Tenure Distribution — revealing workforce maturity and generational composition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46244D-2E8E-5FC2-580E-1B7B175860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091" y="3596116"/>
            <a:ext cx="7402506" cy="4163892"/>
            <a:chOff x="0" y="0"/>
            <a:chExt cx="9870008" cy="55518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70059" cy="5551805"/>
            </a:xfrm>
            <a:custGeom>
              <a:avLst/>
              <a:gdLst/>
              <a:ahLst/>
              <a:cxnLst/>
              <a:rect l="l" t="t" r="r" b="b"/>
              <a:pathLst>
                <a:path w="9870059" h="5551805">
                  <a:moveTo>
                    <a:pt x="0" y="0"/>
                  </a:moveTo>
                  <a:lnTo>
                    <a:pt x="9870059" y="0"/>
                  </a:lnTo>
                  <a:lnTo>
                    <a:pt x="9870059" y="5551805"/>
                  </a:lnTo>
                  <a:lnTo>
                    <a:pt x="0" y="5551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1" b="-25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99697" y="2303126"/>
            <a:ext cx="1361465" cy="366255"/>
            <a:chOff x="0" y="0"/>
            <a:chExt cx="1815287" cy="4883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5338" cy="488315"/>
            </a:xfrm>
            <a:custGeom>
              <a:avLst/>
              <a:gdLst/>
              <a:ahLst/>
              <a:cxnLst/>
              <a:rect l="l" t="t" r="r" b="b"/>
              <a:pathLst>
                <a:path w="1815338" h="488315">
                  <a:moveTo>
                    <a:pt x="0" y="38608"/>
                  </a:moveTo>
                  <a:cubicBezTo>
                    <a:pt x="0" y="17272"/>
                    <a:pt x="17272" y="0"/>
                    <a:pt x="38608" y="0"/>
                  </a:cubicBezTo>
                  <a:lnTo>
                    <a:pt x="1776730" y="0"/>
                  </a:lnTo>
                  <a:cubicBezTo>
                    <a:pt x="1798066" y="0"/>
                    <a:pt x="1815338" y="17272"/>
                    <a:pt x="1815338" y="38608"/>
                  </a:cubicBezTo>
                  <a:lnTo>
                    <a:pt x="1815338" y="449707"/>
                  </a:lnTo>
                  <a:cubicBezTo>
                    <a:pt x="1815338" y="471043"/>
                    <a:pt x="1798066" y="488315"/>
                    <a:pt x="1776730" y="488315"/>
                  </a:cubicBezTo>
                  <a:lnTo>
                    <a:pt x="38608" y="488315"/>
                  </a:lnTo>
                  <a:cubicBezTo>
                    <a:pt x="17272" y="488315"/>
                    <a:pt x="0" y="471043"/>
                    <a:pt x="0" y="449707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99697" y="7850114"/>
            <a:ext cx="7018534" cy="1202874"/>
            <a:chOff x="0" y="0"/>
            <a:chExt cx="9358046" cy="16038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58122" cy="1603883"/>
            </a:xfrm>
            <a:custGeom>
              <a:avLst/>
              <a:gdLst/>
              <a:ahLst/>
              <a:cxnLst/>
              <a:rect l="l" t="t" r="r" b="b"/>
              <a:pathLst>
                <a:path w="9358122" h="1603883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9309862" y="0"/>
                  </a:lnTo>
                  <a:cubicBezTo>
                    <a:pt x="9336532" y="0"/>
                    <a:pt x="9358122" y="21590"/>
                    <a:pt x="9358122" y="48260"/>
                  </a:cubicBezTo>
                  <a:lnTo>
                    <a:pt x="9358122" y="1555623"/>
                  </a:lnTo>
                  <a:cubicBezTo>
                    <a:pt x="9358122" y="1582293"/>
                    <a:pt x="9336532" y="1603883"/>
                    <a:pt x="9309862" y="1603883"/>
                  </a:cubicBezTo>
                  <a:lnTo>
                    <a:pt x="48260" y="1603883"/>
                  </a:lnTo>
                  <a:cubicBezTo>
                    <a:pt x="21590" y="1603883"/>
                    <a:pt x="0" y="1582293"/>
                    <a:pt x="0" y="1555623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40832" y="8188223"/>
            <a:ext cx="301457" cy="241144"/>
            <a:chOff x="0" y="0"/>
            <a:chExt cx="401942" cy="321526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401955" cy="321564"/>
            </a:xfrm>
            <a:custGeom>
              <a:avLst/>
              <a:gdLst/>
              <a:ahLst/>
              <a:cxnLst/>
              <a:rect l="l" t="t" r="r" b="b"/>
              <a:pathLst>
                <a:path w="401955" h="321564">
                  <a:moveTo>
                    <a:pt x="0" y="0"/>
                  </a:moveTo>
                  <a:lnTo>
                    <a:pt x="401955" y="0"/>
                  </a:lnTo>
                  <a:lnTo>
                    <a:pt x="401955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85" r="3" b="-77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2991" y="982904"/>
            <a:ext cx="16315868" cy="78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Dashboard Page 1: HR Analytics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44324" y="2375364"/>
            <a:ext cx="1987315" cy="22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PAGE 1 OF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9697" y="2722731"/>
            <a:ext cx="701853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KPI Cards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99697" y="3275933"/>
            <a:ext cx="7018534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Total Employees · Employees Left · </a:t>
            </a: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Attrition Rate %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· Average Salary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99697" y="4223195"/>
            <a:ext cx="701853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Visualizations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99697" y="4776397"/>
            <a:ext cx="7018534" cy="169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Attrition by Department (bar chart)</a:t>
            </a:r>
          </a:p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Attrition by Job Role (horizontal bar)</a:t>
            </a:r>
          </a:p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Salary Analysis by band</a:t>
            </a:r>
          </a:p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Age Distribution histogram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99697" y="6652327"/>
            <a:ext cx="701853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Interactive Elements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99697" y="7205529"/>
            <a:ext cx="7933630" cy="41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Slicers: </a:t>
            </a: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Department · Job Role · Overtime Status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83423" y="8037538"/>
            <a:ext cx="5993673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Insert your Power BI screenshot in the image slot on the left.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BC7EE7-58CC-1363-4BBD-D0212D0DA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991" y="2798074"/>
            <a:ext cx="1281484" cy="344805"/>
            <a:chOff x="0" y="0"/>
            <a:chExt cx="1708645" cy="459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658" cy="459740"/>
            </a:xfrm>
            <a:custGeom>
              <a:avLst/>
              <a:gdLst/>
              <a:ahLst/>
              <a:cxnLst/>
              <a:rect l="l" t="t" r="r" b="b"/>
              <a:pathLst>
                <a:path w="1708658" h="459740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1672336" y="0"/>
                  </a:lnTo>
                  <a:cubicBezTo>
                    <a:pt x="1692402" y="0"/>
                    <a:pt x="1708658" y="16256"/>
                    <a:pt x="1708658" y="36322"/>
                  </a:cubicBezTo>
                  <a:lnTo>
                    <a:pt x="1708658" y="423418"/>
                  </a:lnTo>
                  <a:cubicBezTo>
                    <a:pt x="1708658" y="443484"/>
                    <a:pt x="1692402" y="459740"/>
                    <a:pt x="1672336" y="459740"/>
                  </a:cubicBezTo>
                  <a:lnTo>
                    <a:pt x="36322" y="459740"/>
                  </a:lnTo>
                  <a:cubicBezTo>
                    <a:pt x="16256" y="459740"/>
                    <a:pt x="0" y="443484"/>
                    <a:pt x="0" y="423418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66231" y="3675202"/>
            <a:ext cx="6979510" cy="3926024"/>
            <a:chOff x="0" y="0"/>
            <a:chExt cx="9306014" cy="52346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06052" cy="5234686"/>
            </a:xfrm>
            <a:custGeom>
              <a:avLst/>
              <a:gdLst/>
              <a:ahLst/>
              <a:cxnLst/>
              <a:rect l="l" t="t" r="r" b="b"/>
              <a:pathLst>
                <a:path w="9306052" h="5234686">
                  <a:moveTo>
                    <a:pt x="0" y="0"/>
                  </a:moveTo>
                  <a:lnTo>
                    <a:pt x="9306052" y="0"/>
                  </a:lnTo>
                  <a:lnTo>
                    <a:pt x="9306052" y="5234686"/>
                  </a:lnTo>
                  <a:lnTo>
                    <a:pt x="0" y="523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4" r="-20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991" y="1574225"/>
            <a:ext cx="6401753" cy="70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Employee Details &amp;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122" y="2866139"/>
            <a:ext cx="1924317" cy="20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PAGE 2 OF 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991" y="3186836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Employee Detail Table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991" y="3723037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Searchable employee records with key HR metrics at a glance — name, role, salary, tenure, satisfaction score.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991" y="4558170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Salary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991" y="5094370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Compensation by Job Role with trend indicators highlighting over- and under-paid segments.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991" y="5929503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Satisfaction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991" y="6465703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Job satisfaction levels correlated with years at company — visualizing engagement across tenure bands.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991" y="7300836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Drill-Through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991" y="7837037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Click any employee row to navigate to a </a:t>
            </a:r>
            <a:r>
              <a:rPr lang="en-US" sz="172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detailed individual profile page</a:t>
            </a: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with full HR history.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933427-B28F-B226-17AA-5742BD619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6182" y="1043226"/>
            <a:ext cx="9452677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Key Business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74092" y="2085899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16.1%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6182" y="2840088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Overall Attrition Rate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6182" y="3224222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237 of 1,470 employees left — above the 10% healthy benchmark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4092" y="3985984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20.6%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6182" y="4740173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Sales Dept. Attrition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56182" y="5124307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Highest attrition of all departments — a critical retention risk zone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74092" y="5886069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2.3x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56182" y="6640258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Overtime Impact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56182" y="7024392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Employees on overtime are 2.3× more likely to leave the organization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74092" y="7786154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26–35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56182" y="8540344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Peak Attrition 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56182" y="8924477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26–35 age cohort accounts for the majority of voluntary departures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F37365-09F2-595E-72C6-3BBBAD0C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1381039"/>
            <a:ext cx="16315868" cy="69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Strategic Recommendations &amp;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454469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Strategic Recommendations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991" y="2985440"/>
            <a:ext cx="3869331" cy="2751306"/>
          </a:xfrm>
          <a:custGeom>
            <a:avLst/>
            <a:gdLst/>
            <a:ahLst/>
            <a:cxnLst/>
            <a:rect l="l" t="t" r="r" b="b"/>
            <a:pathLst>
              <a:path w="3869331" h="2751306">
                <a:moveTo>
                  <a:pt x="0" y="0"/>
                </a:moveTo>
                <a:lnTo>
                  <a:pt x="3869331" y="0"/>
                </a:lnTo>
                <a:lnTo>
                  <a:pt x="3869331" y="2751306"/>
                </a:lnTo>
                <a:lnTo>
                  <a:pt x="0" y="275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" b="-1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768060" y="3133639"/>
            <a:ext cx="319183" cy="399021"/>
            <a:chOff x="0" y="0"/>
            <a:chExt cx="425577" cy="5320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34269" y="3792884"/>
            <a:ext cx="3386766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Targeted Retention Programs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269" y="4265800"/>
            <a:ext cx="3386766" cy="93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Design role-specific retention incentives for Sales and Research roles with highest attrition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5021837" y="2985440"/>
            <a:ext cx="3869484" cy="2751306"/>
          </a:xfrm>
          <a:custGeom>
            <a:avLst/>
            <a:gdLst/>
            <a:ahLst/>
            <a:cxnLst/>
            <a:rect l="l" t="t" r="r" b="b"/>
            <a:pathLst>
              <a:path w="3869484" h="2751306">
                <a:moveTo>
                  <a:pt x="0" y="0"/>
                </a:moveTo>
                <a:lnTo>
                  <a:pt x="3869484" y="0"/>
                </a:lnTo>
                <a:lnTo>
                  <a:pt x="3869484" y="2751306"/>
                </a:lnTo>
                <a:lnTo>
                  <a:pt x="0" y="275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5" b="-10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6796907" y="3133639"/>
            <a:ext cx="319183" cy="399021"/>
            <a:chOff x="0" y="0"/>
            <a:chExt cx="425577" cy="5320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263115" y="3792884"/>
            <a:ext cx="3386909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Overtime Policy Reform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63115" y="4265800"/>
            <a:ext cx="3386909" cy="122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Cap excessive overtime and introduce flexible work arrangements to reduce the 2.3× attrition multiplier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92991" y="5896270"/>
            <a:ext cx="3869331" cy="2453411"/>
          </a:xfrm>
          <a:custGeom>
            <a:avLst/>
            <a:gdLst/>
            <a:ahLst/>
            <a:cxnLst/>
            <a:rect l="l" t="t" r="r" b="b"/>
            <a:pathLst>
              <a:path w="3869331" h="2453411">
                <a:moveTo>
                  <a:pt x="0" y="0"/>
                </a:moveTo>
                <a:lnTo>
                  <a:pt x="3869331" y="0"/>
                </a:lnTo>
                <a:lnTo>
                  <a:pt x="3869331" y="2453412"/>
                </a:lnTo>
                <a:lnTo>
                  <a:pt x="0" y="2453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1" b="-18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2768060" y="6044460"/>
            <a:ext cx="319183" cy="399021"/>
            <a:chOff x="0" y="0"/>
            <a:chExt cx="425577" cy="5320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34269" y="6703705"/>
            <a:ext cx="3386766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Early-Career Engagement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4269" y="7176621"/>
            <a:ext cx="3386766" cy="93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Implement structured mentorship and career ladders for the high-risk 26–35 cohort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5021837" y="5896270"/>
            <a:ext cx="3869484" cy="2453411"/>
          </a:xfrm>
          <a:custGeom>
            <a:avLst/>
            <a:gdLst/>
            <a:ahLst/>
            <a:cxnLst/>
            <a:rect l="l" t="t" r="r" b="b"/>
            <a:pathLst>
              <a:path w="3869484" h="2453411">
                <a:moveTo>
                  <a:pt x="0" y="0"/>
                </a:moveTo>
                <a:lnTo>
                  <a:pt x="3869484" y="0"/>
                </a:lnTo>
                <a:lnTo>
                  <a:pt x="3869484" y="2453412"/>
                </a:lnTo>
                <a:lnTo>
                  <a:pt x="0" y="2453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3" b="-18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oup 27"/>
          <p:cNvGrpSpPr/>
          <p:nvPr/>
        </p:nvGrpSpPr>
        <p:grpSpPr>
          <a:xfrm>
            <a:off x="6796907" y="6044460"/>
            <a:ext cx="319183" cy="399021"/>
            <a:chOff x="0" y="0"/>
            <a:chExt cx="425577" cy="5320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4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263115" y="6703705"/>
            <a:ext cx="3386909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 Benchmarking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63115" y="7176621"/>
            <a:ext cx="3386909" cy="93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Align salary bands with market data to close pay gaps identified in the dashboard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0054" y="2454469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Future Scope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739236" y="3198285"/>
            <a:ext cx="7578995" cy="212693"/>
            <a:chOff x="0" y="0"/>
            <a:chExt cx="10105326" cy="28359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05263" cy="283591"/>
            </a:xfrm>
            <a:custGeom>
              <a:avLst/>
              <a:gdLst/>
              <a:ahLst/>
              <a:cxnLst/>
              <a:rect l="l" t="t" r="r" b="b"/>
              <a:pathLst>
                <a:path w="10105263" h="283591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0062718" y="0"/>
                  </a:lnTo>
                  <a:cubicBezTo>
                    <a:pt x="10086213" y="0"/>
                    <a:pt x="10105263" y="19050"/>
                    <a:pt x="10105263" y="42545"/>
                  </a:cubicBezTo>
                  <a:lnTo>
                    <a:pt x="10105263" y="241046"/>
                  </a:lnTo>
                  <a:cubicBezTo>
                    <a:pt x="10105263" y="264541"/>
                    <a:pt x="10086213" y="283591"/>
                    <a:pt x="10062718" y="283591"/>
                  </a:cubicBezTo>
                  <a:lnTo>
                    <a:pt x="42545" y="283591"/>
                  </a:lnTo>
                  <a:cubicBezTo>
                    <a:pt x="19050" y="283591"/>
                    <a:pt x="0" y="264541"/>
                    <a:pt x="0" y="241046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20054" y="2985440"/>
            <a:ext cx="638356" cy="638375"/>
            <a:chOff x="0" y="0"/>
            <a:chExt cx="851141" cy="85116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1154" cy="851154"/>
            </a:xfrm>
            <a:custGeom>
              <a:avLst/>
              <a:gdLst/>
              <a:ahLst/>
              <a:cxnLst/>
              <a:rect l="l" t="t" r="r" b="b"/>
              <a:pathLst>
                <a:path w="851154" h="851154">
                  <a:moveTo>
                    <a:pt x="0" y="425577"/>
                  </a:moveTo>
                  <a:cubicBezTo>
                    <a:pt x="0" y="190500"/>
                    <a:pt x="190500" y="0"/>
                    <a:pt x="425577" y="0"/>
                  </a:cubicBezTo>
                  <a:cubicBezTo>
                    <a:pt x="660654" y="0"/>
                    <a:pt x="851154" y="190500"/>
                    <a:pt x="851154" y="425577"/>
                  </a:cubicBezTo>
                  <a:cubicBezTo>
                    <a:pt x="851154" y="660654"/>
                    <a:pt x="660654" y="851154"/>
                    <a:pt x="425577" y="851154"/>
                  </a:cubicBezTo>
                  <a:cubicBezTo>
                    <a:pt x="190500" y="851154"/>
                    <a:pt x="0" y="660654"/>
                    <a:pt x="0" y="42557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9579569" y="3145107"/>
            <a:ext cx="319183" cy="319192"/>
          </a:xfrm>
          <a:custGeom>
            <a:avLst/>
            <a:gdLst/>
            <a:ahLst/>
            <a:cxnLst/>
            <a:rect l="l" t="t" r="r" b="b"/>
            <a:pathLst>
              <a:path w="319183" h="319192">
                <a:moveTo>
                  <a:pt x="0" y="0"/>
                </a:moveTo>
                <a:lnTo>
                  <a:pt x="319182" y="0"/>
                </a:lnTo>
                <a:lnTo>
                  <a:pt x="319182" y="319193"/>
                </a:lnTo>
                <a:lnTo>
                  <a:pt x="0" y="319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r="-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9632747" y="3764290"/>
            <a:ext cx="7472953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Predictive Attrition Model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32747" y="4237206"/>
            <a:ext cx="7472953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Integrate Python ML models into Power BI for employee flight-risk scoring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058419" y="5158245"/>
            <a:ext cx="7259822" cy="212693"/>
            <a:chOff x="0" y="0"/>
            <a:chExt cx="9679762" cy="28359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679686" cy="283591"/>
            </a:xfrm>
            <a:custGeom>
              <a:avLst/>
              <a:gdLst/>
              <a:ahLst/>
              <a:cxnLst/>
              <a:rect l="l" t="t" r="r" b="b"/>
              <a:pathLst>
                <a:path w="9679686" h="283591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9637141" y="0"/>
                  </a:lnTo>
                  <a:cubicBezTo>
                    <a:pt x="9660636" y="0"/>
                    <a:pt x="9679686" y="19050"/>
                    <a:pt x="9679686" y="42545"/>
                  </a:cubicBezTo>
                  <a:lnTo>
                    <a:pt x="9679686" y="241046"/>
                  </a:lnTo>
                  <a:cubicBezTo>
                    <a:pt x="9679686" y="264541"/>
                    <a:pt x="9660636" y="283591"/>
                    <a:pt x="9637141" y="283591"/>
                  </a:cubicBezTo>
                  <a:lnTo>
                    <a:pt x="42545" y="283591"/>
                  </a:lnTo>
                  <a:cubicBezTo>
                    <a:pt x="19050" y="283591"/>
                    <a:pt x="0" y="264541"/>
                    <a:pt x="0" y="241046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739236" y="4945399"/>
            <a:ext cx="638356" cy="638375"/>
            <a:chOff x="0" y="0"/>
            <a:chExt cx="851141" cy="85116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1154" cy="851154"/>
            </a:xfrm>
            <a:custGeom>
              <a:avLst/>
              <a:gdLst/>
              <a:ahLst/>
              <a:cxnLst/>
              <a:rect l="l" t="t" r="r" b="b"/>
              <a:pathLst>
                <a:path w="851154" h="851154">
                  <a:moveTo>
                    <a:pt x="0" y="425577"/>
                  </a:moveTo>
                  <a:cubicBezTo>
                    <a:pt x="0" y="190500"/>
                    <a:pt x="190500" y="0"/>
                    <a:pt x="425577" y="0"/>
                  </a:cubicBezTo>
                  <a:cubicBezTo>
                    <a:pt x="660654" y="0"/>
                    <a:pt x="851154" y="190500"/>
                    <a:pt x="851154" y="425577"/>
                  </a:cubicBezTo>
                  <a:cubicBezTo>
                    <a:pt x="851154" y="660654"/>
                    <a:pt x="660654" y="851154"/>
                    <a:pt x="425577" y="851154"/>
                  </a:cubicBezTo>
                  <a:cubicBezTo>
                    <a:pt x="190500" y="851154"/>
                    <a:pt x="0" y="660654"/>
                    <a:pt x="0" y="42557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4" name="Freeform 44" descr="preencoded.png"/>
          <p:cNvSpPr/>
          <p:nvPr/>
        </p:nvSpPr>
        <p:spPr>
          <a:xfrm>
            <a:off x="9898751" y="5105076"/>
            <a:ext cx="319183" cy="319192"/>
          </a:xfrm>
          <a:custGeom>
            <a:avLst/>
            <a:gdLst/>
            <a:ahLst/>
            <a:cxnLst/>
            <a:rect l="l" t="t" r="r" b="b"/>
            <a:pathLst>
              <a:path w="319183" h="319192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530" r="-235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5" name="TextBox 45"/>
          <p:cNvSpPr txBox="1"/>
          <p:nvPr/>
        </p:nvSpPr>
        <p:spPr>
          <a:xfrm>
            <a:off x="9951920" y="5724249"/>
            <a:ext cx="715377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Live HRIS Integration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51920" y="6197165"/>
            <a:ext cx="7153770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Connect to live HRIS (SAP/Workday) for real-time workforce monitoring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377592" y="7118204"/>
            <a:ext cx="6940639" cy="212693"/>
            <a:chOff x="0" y="0"/>
            <a:chExt cx="9254185" cy="28359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254109" cy="283591"/>
            </a:xfrm>
            <a:custGeom>
              <a:avLst/>
              <a:gdLst/>
              <a:ahLst/>
              <a:cxnLst/>
              <a:rect l="l" t="t" r="r" b="b"/>
              <a:pathLst>
                <a:path w="9254109" h="283591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9211564" y="0"/>
                  </a:lnTo>
                  <a:cubicBezTo>
                    <a:pt x="9235059" y="0"/>
                    <a:pt x="9254109" y="19050"/>
                    <a:pt x="9254109" y="42545"/>
                  </a:cubicBezTo>
                  <a:lnTo>
                    <a:pt x="9254109" y="241046"/>
                  </a:lnTo>
                  <a:cubicBezTo>
                    <a:pt x="9254109" y="264541"/>
                    <a:pt x="9235059" y="283591"/>
                    <a:pt x="9211564" y="283591"/>
                  </a:cubicBezTo>
                  <a:lnTo>
                    <a:pt x="42545" y="283591"/>
                  </a:lnTo>
                  <a:cubicBezTo>
                    <a:pt x="19050" y="283591"/>
                    <a:pt x="0" y="264541"/>
                    <a:pt x="0" y="241046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058419" y="6905368"/>
            <a:ext cx="638356" cy="638375"/>
            <a:chOff x="0" y="0"/>
            <a:chExt cx="851141" cy="85116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51154" cy="851154"/>
            </a:xfrm>
            <a:custGeom>
              <a:avLst/>
              <a:gdLst/>
              <a:ahLst/>
              <a:cxnLst/>
              <a:rect l="l" t="t" r="r" b="b"/>
              <a:pathLst>
                <a:path w="851154" h="851154">
                  <a:moveTo>
                    <a:pt x="0" y="425577"/>
                  </a:moveTo>
                  <a:cubicBezTo>
                    <a:pt x="0" y="190500"/>
                    <a:pt x="190500" y="0"/>
                    <a:pt x="425577" y="0"/>
                  </a:cubicBezTo>
                  <a:cubicBezTo>
                    <a:pt x="660654" y="0"/>
                    <a:pt x="851154" y="190500"/>
                    <a:pt x="851154" y="425577"/>
                  </a:cubicBezTo>
                  <a:cubicBezTo>
                    <a:pt x="851154" y="660654"/>
                    <a:pt x="660654" y="851154"/>
                    <a:pt x="425577" y="851154"/>
                  </a:cubicBezTo>
                  <a:cubicBezTo>
                    <a:pt x="190500" y="851154"/>
                    <a:pt x="0" y="660654"/>
                    <a:pt x="0" y="42557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" name="Freeform 51" descr="preencoded.png"/>
          <p:cNvSpPr/>
          <p:nvPr/>
        </p:nvSpPr>
        <p:spPr>
          <a:xfrm>
            <a:off x="10217934" y="7065035"/>
            <a:ext cx="319183" cy="319192"/>
          </a:xfrm>
          <a:custGeom>
            <a:avLst/>
            <a:gdLst/>
            <a:ahLst/>
            <a:cxnLst/>
            <a:rect l="l" t="t" r="r" b="b"/>
            <a:pathLst>
              <a:path w="319183" h="319192">
                <a:moveTo>
                  <a:pt x="0" y="0"/>
                </a:moveTo>
                <a:lnTo>
                  <a:pt x="319183" y="0"/>
                </a:lnTo>
                <a:lnTo>
                  <a:pt x="319183" y="319193"/>
                </a:lnTo>
                <a:lnTo>
                  <a:pt x="0" y="319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6468" b="-264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2"/>
          <p:cNvSpPr txBox="1"/>
          <p:nvPr/>
        </p:nvSpPr>
        <p:spPr>
          <a:xfrm>
            <a:off x="10271103" y="7684208"/>
            <a:ext cx="6834597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Mobile Dashboard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271103" y="8157124"/>
            <a:ext cx="6834597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Publish Power BI Mobile reports for executive on-the-go HR insights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F5FADFC-F566-75B4-9298-B53B2D6AFF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780</Words>
  <Application>Microsoft Office PowerPoint</Application>
  <PresentationFormat>Custom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Heebo</vt:lpstr>
      <vt:lpstr>Calibri</vt:lpstr>
      <vt:lpstr>Arial</vt:lpstr>
      <vt:lpstr>Crimson Pro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HR-Employee-Analytics-Dashboard.pptx</dc:title>
  <cp:lastModifiedBy>Rudrashis Chowdhury</cp:lastModifiedBy>
  <cp:revision>4</cp:revision>
  <dcterms:created xsi:type="dcterms:W3CDTF">2006-08-16T00:00:00Z</dcterms:created>
  <dcterms:modified xsi:type="dcterms:W3CDTF">2026-08-04T06:26:42Z</dcterms:modified>
  <dc:identifier>DAHRTjSKlqQ</dc:identifier>
</cp:coreProperties>
</file>
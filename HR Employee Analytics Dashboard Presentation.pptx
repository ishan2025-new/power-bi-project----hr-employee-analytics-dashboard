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5033" autoAdjust="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4085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914400" y="1874520"/>
            <a:ext cx="103601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kern="0" spc="100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HR EMPLOYEE ANALYTICS DASHBOARD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914400" y="283464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Power BI Project on the IBM HR Employee Attrition Dataset</a:t>
            </a:r>
            <a:endParaRPr lang="en-US" sz="170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140B071-2E37-44FC-872B-A33C1BC36B59}"/>
              </a:ext>
            </a:extLst>
          </p:cNvPr>
          <p:cNvGrpSpPr/>
          <p:nvPr/>
        </p:nvGrpSpPr>
        <p:grpSpPr>
          <a:xfrm>
            <a:off x="3581400" y="4251960"/>
            <a:ext cx="5029200" cy="1047042"/>
            <a:chOff x="3584448" y="3794760"/>
            <a:chExt cx="5029200" cy="1047042"/>
          </a:xfrm>
        </p:grpSpPr>
        <p:sp>
          <p:nvSpPr>
            <p:cNvPr id="6" name="Shape 4"/>
            <p:cNvSpPr/>
            <p:nvPr/>
          </p:nvSpPr>
          <p:spPr>
            <a:xfrm>
              <a:off x="3584448" y="3794760"/>
              <a:ext cx="5029200" cy="1047042"/>
            </a:xfrm>
            <a:prstGeom prst="roundRect">
              <a:avLst>
                <a:gd name="adj" fmla="val 5581"/>
              </a:avLst>
            </a:prstGeom>
            <a:solidFill>
              <a:srgbClr val="FCF6F5"/>
            </a:solidFill>
            <a:ln/>
            <a:effectLst>
              <a:outerShdw blurRad="101600" dist="38100" dir="5400000" algn="bl" rotWithShape="0">
                <a:srgbClr val="000000">
                  <a:alpha val="25000"/>
                </a:srgbClr>
              </a:outerShdw>
            </a:effectLst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 5"/>
            <p:cNvSpPr/>
            <p:nvPr/>
          </p:nvSpPr>
          <p:spPr>
            <a:xfrm>
              <a:off x="3858768" y="4005072"/>
              <a:ext cx="14630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99001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PRESENETED BY</a:t>
              </a:r>
              <a:endParaRPr lang="en-US" sz="11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57800" y="4005072"/>
              <a:ext cx="32004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2A2A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Rudrashis Chowdhury, Gourab Mondal and Tuhin Roy</a:t>
              </a:r>
              <a:endParaRPr lang="en-US" sz="13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858768" y="4399232"/>
              <a:ext cx="1463040" cy="4425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99001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DATE</a:t>
              </a:r>
              <a:endParaRPr lang="en-US" sz="11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257800" y="4399232"/>
              <a:ext cx="3200400" cy="4425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2A2A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2nd August 2026</a:t>
              </a:r>
              <a:endParaRPr lang="en-US" sz="1300" dirty="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0C2C1459-7796-7EBB-45FD-81D3ADBFEF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240" y="864489"/>
            <a:ext cx="3095625" cy="904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Overview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234440" y="13716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34440" y="16916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IBM HR attrition data to uncover workforce and attrition trends.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587752"/>
            <a:ext cx="502920" cy="502920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48640" y="25877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254203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Problem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2862072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employee attrition impacts cost, productivity, and morale.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758184"/>
            <a:ext cx="502920" cy="502920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48640" y="375818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34440" y="371246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Used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4032504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BI, Power Query, DAX, and Excel for end-to-end analysis.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928616"/>
            <a:ext cx="502920" cy="502920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48640" y="492861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4882896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34440" y="5202936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dashboard that enables data-driven HR decisions.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0" y="1417320"/>
            <a:ext cx="4846320" cy="4709160"/>
          </a:xfrm>
          <a:prstGeom prst="roundRect">
            <a:avLst>
              <a:gd name="adj" fmla="val 1942"/>
            </a:avLst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7223760" y="16916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USED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223760" y="2286000"/>
            <a:ext cx="4114800" cy="777240"/>
          </a:xfrm>
          <a:prstGeom prst="roundRect">
            <a:avLst>
              <a:gd name="adj" fmla="val 9412"/>
            </a:avLst>
          </a:prstGeom>
          <a:solidFill>
            <a:srgbClr val="FCF6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7452360" y="22860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223760" y="3246120"/>
            <a:ext cx="4114800" cy="777240"/>
          </a:xfrm>
          <a:prstGeom prst="roundRect">
            <a:avLst>
              <a:gd name="adj" fmla="val 9412"/>
            </a:avLst>
          </a:prstGeom>
          <a:solidFill>
            <a:srgbClr val="FCF6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7452360" y="3246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Query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23760" y="4206240"/>
            <a:ext cx="4114800" cy="777240"/>
          </a:xfrm>
          <a:prstGeom prst="roundRect">
            <a:avLst>
              <a:gd name="adj" fmla="val 9412"/>
            </a:avLst>
          </a:prstGeom>
          <a:solidFill>
            <a:srgbClr val="FCF6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7452360" y="42062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223760" y="5166360"/>
            <a:ext cx="4114800" cy="777240"/>
          </a:xfrm>
          <a:prstGeom prst="roundRect">
            <a:avLst>
              <a:gd name="adj" fmla="val 9412"/>
            </a:avLst>
          </a:prstGeom>
          <a:solidFill>
            <a:srgbClr val="FCF6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7452360" y="51663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(CSV Dataset)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&amp; Data Cleaning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14600" cy="1554480"/>
          </a:xfrm>
          <a:prstGeom prst="roundRect">
            <a:avLst>
              <a:gd name="adj" fmla="val 5882"/>
            </a:avLst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1,470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3D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Records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783080"/>
            <a:ext cx="2514600" cy="1554480"/>
          </a:xfrm>
          <a:prstGeom prst="roundRect">
            <a:avLst>
              <a:gd name="adj" fmla="val 5882"/>
            </a:avLst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246120" y="19202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24612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3D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Columns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5204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IBM HR Employee Attrition dataset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3716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09360" y="1828800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6309360" y="18288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766560" y="177393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Imported the CSV dataset into Power Query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309360" y="2395728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309360" y="239572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766560" y="2340864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EmployeeCount, Over18, StandardHours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309360" y="2962656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309360" y="296265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766560" y="290779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column data types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309360" y="3529584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309360" y="35295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766560" y="3474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for duplicate records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309360" y="4096512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309360" y="40965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66560" y="404164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for missing values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DAX Measures &amp; Calculated Columns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709160"/>
          </a:xfrm>
          <a:prstGeom prst="roundRect">
            <a:avLst>
              <a:gd name="adj" fmla="val 1942"/>
            </a:avLst>
          </a:prstGeom>
          <a:solidFill>
            <a:srgbClr val="FBE9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100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MEASURES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2194560"/>
            <a:ext cx="310896" cy="310896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89888" y="21488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Employees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2816352"/>
            <a:ext cx="310896" cy="310896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914400" y="281635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89888" y="277063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Left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3438144"/>
            <a:ext cx="310896" cy="310896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914400" y="343814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89888" y="339242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Stayed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4400" y="4059936"/>
            <a:ext cx="310896" cy="310896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914400" y="405993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89888" y="401421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Attrition Rate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4400" y="4681728"/>
            <a:ext cx="310896" cy="310896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914400" y="46817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89888" y="46360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Salary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14400" y="5303520"/>
            <a:ext cx="310896" cy="310896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914400" y="530352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89888" y="52578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Age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63640" y="1417320"/>
            <a:ext cx="5394960" cy="4709160"/>
          </a:xfrm>
          <a:prstGeom prst="roundRect">
            <a:avLst>
              <a:gd name="adj" fmla="val 1942"/>
            </a:avLst>
          </a:prstGeom>
          <a:solidFill>
            <a:srgbClr val="E8EAF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6629400" y="1645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CALCULATED COLUMNS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629400" y="2194560"/>
            <a:ext cx="310896" cy="3108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6629400" y="21945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04888" y="21488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Group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629400" y="2816352"/>
            <a:ext cx="310896" cy="3108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6629400" y="281635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104888" y="277063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 Band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629400" y="3438144"/>
            <a:ext cx="310896" cy="3108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6629400" y="343814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104888" y="339242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Tenure Group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Page 1 – Overview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8138160" cy="4658484"/>
          </a:xfrm>
          <a:prstGeom prst="roundRect">
            <a:avLst>
              <a:gd name="adj" fmla="val 1178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2"/>
          <p:cNvSpPr/>
          <p:nvPr/>
        </p:nvSpPr>
        <p:spPr>
          <a:xfrm>
            <a:off x="8732520" y="1005840"/>
            <a:ext cx="2971800" cy="5074920"/>
          </a:xfrm>
          <a:prstGeom prst="roundRect">
            <a:avLst>
              <a:gd name="adj" fmla="val 3077"/>
            </a:avLst>
          </a:prstGeom>
          <a:solidFill>
            <a:srgbClr val="2F3C7E"/>
          </a:solidFill>
          <a:ln/>
        </p:spPr>
        <p:txBody>
          <a:bodyPr/>
          <a:lstStyle/>
          <a:p>
            <a:endParaRPr lang="en-IN" b="1"/>
          </a:p>
        </p:txBody>
      </p:sp>
      <p:sp>
        <p:nvSpPr>
          <p:cNvPr id="6" name="Text 3"/>
          <p:cNvSpPr/>
          <p:nvPr/>
        </p:nvSpPr>
        <p:spPr>
          <a:xfrm>
            <a:off x="9006840" y="115046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NOTICE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006840" y="1819656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9189720" y="1439896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cards: Total Employees, Employees Left, Attrition Rate, Average Salary</a:t>
            </a:r>
            <a:endParaRPr lang="en-US" sz="1150" b="1" dirty="0"/>
          </a:p>
        </p:txBody>
      </p:sp>
      <p:sp>
        <p:nvSpPr>
          <p:cNvPr id="9" name="Shape 6"/>
          <p:cNvSpPr/>
          <p:nvPr/>
        </p:nvSpPr>
        <p:spPr>
          <a:xfrm>
            <a:off x="9006840" y="2715768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9189720" y="23317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Salary by Department and by Job Role</a:t>
            </a:r>
            <a:endParaRPr lang="en-US" sz="1150" b="1" dirty="0"/>
          </a:p>
        </p:txBody>
      </p:sp>
      <p:sp>
        <p:nvSpPr>
          <p:cNvPr id="11" name="Shape 8"/>
          <p:cNvSpPr/>
          <p:nvPr/>
        </p:nvSpPr>
        <p:spPr>
          <a:xfrm>
            <a:off x="9006840" y="3611880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9189720" y="32461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Left by Job Role and by Department</a:t>
            </a:r>
            <a:endParaRPr lang="en-US" sz="1150" b="1" dirty="0"/>
          </a:p>
        </p:txBody>
      </p:sp>
      <p:sp>
        <p:nvSpPr>
          <p:cNvPr id="13" name="Shape 10"/>
          <p:cNvSpPr/>
          <p:nvPr/>
        </p:nvSpPr>
        <p:spPr>
          <a:xfrm>
            <a:off x="9006840" y="4507992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9242531" y="413766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distribution and Salary Band split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40AC185-CB98-6439-FEA2-EDE4EFD59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309" y="1150462"/>
            <a:ext cx="7880574" cy="438259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Page 2 – Employee Details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8138160" cy="4603829"/>
          </a:xfrm>
          <a:prstGeom prst="roundRect">
            <a:avLst>
              <a:gd name="adj" fmla="val 1192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2"/>
          <p:cNvSpPr/>
          <p:nvPr/>
        </p:nvSpPr>
        <p:spPr>
          <a:xfrm>
            <a:off x="8732520" y="1005840"/>
            <a:ext cx="2971800" cy="5074920"/>
          </a:xfrm>
          <a:prstGeom prst="roundRect">
            <a:avLst>
              <a:gd name="adj" fmla="val 3077"/>
            </a:avLst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9006840" y="1131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NOTICE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006840" y="1819656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9189720" y="1439904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Details table with drill-through to individual records</a:t>
            </a:r>
            <a:endParaRPr lang="en-US" sz="1150" b="1" dirty="0"/>
          </a:p>
        </p:txBody>
      </p:sp>
      <p:sp>
        <p:nvSpPr>
          <p:cNvPr id="9" name="Shape 6"/>
          <p:cNvSpPr/>
          <p:nvPr/>
        </p:nvSpPr>
        <p:spPr>
          <a:xfrm>
            <a:off x="9006840" y="2715768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9189720" y="2336016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Salary by Job Role</a:t>
            </a:r>
            <a:endParaRPr lang="en-US" sz="1150" b="1" dirty="0"/>
          </a:p>
        </p:txBody>
      </p:sp>
      <p:sp>
        <p:nvSpPr>
          <p:cNvPr id="11" name="Shape 8"/>
          <p:cNvSpPr/>
          <p:nvPr/>
        </p:nvSpPr>
        <p:spPr>
          <a:xfrm>
            <a:off x="9006840" y="3611880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9189720" y="3232128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Employees by Job Satisfaction</a:t>
            </a:r>
            <a:endParaRPr lang="en-US" sz="1150" b="1" dirty="0"/>
          </a:p>
        </p:txBody>
      </p:sp>
      <p:sp>
        <p:nvSpPr>
          <p:cNvPr id="13" name="Shape 10"/>
          <p:cNvSpPr/>
          <p:nvPr/>
        </p:nvSpPr>
        <p:spPr>
          <a:xfrm>
            <a:off x="9006840" y="4507992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9189720" y="412824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Employees by Company Tenure Group</a:t>
            </a:r>
            <a:endParaRPr lang="en-US" sz="1150" b="1" dirty="0"/>
          </a:p>
        </p:txBody>
      </p:sp>
      <p:sp>
        <p:nvSpPr>
          <p:cNvPr id="15" name="Text 12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096A48A-20FF-8A2E-001D-1D77069841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31800"/>
            <a:ext cx="7820919" cy="43988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Page 3 – Department Performance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8138160" cy="4654317"/>
          </a:xfrm>
          <a:prstGeom prst="roundRect">
            <a:avLst>
              <a:gd name="adj" fmla="val 1179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2"/>
          <p:cNvSpPr/>
          <p:nvPr/>
        </p:nvSpPr>
        <p:spPr>
          <a:xfrm>
            <a:off x="8732520" y="1005840"/>
            <a:ext cx="2971800" cy="5074920"/>
          </a:xfrm>
          <a:prstGeom prst="roundRect">
            <a:avLst>
              <a:gd name="adj" fmla="val 3077"/>
            </a:avLst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9006840" y="1159793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NOTICE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006840" y="1819656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9189720" y="1439898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summary table (working years, tenure, income)</a:t>
            </a:r>
            <a:endParaRPr lang="en-US" sz="1150" b="1" dirty="0"/>
          </a:p>
        </p:txBody>
      </p:sp>
      <p:sp>
        <p:nvSpPr>
          <p:cNvPr id="9" name="Shape 6"/>
          <p:cNvSpPr/>
          <p:nvPr/>
        </p:nvSpPr>
        <p:spPr>
          <a:xfrm>
            <a:off x="9006840" y="2715768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9189720" y="233601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Left by Job Role and Average Salary by Job Role</a:t>
            </a:r>
            <a:endParaRPr lang="en-US" sz="1150" b="1" dirty="0"/>
          </a:p>
        </p:txBody>
      </p:sp>
      <p:sp>
        <p:nvSpPr>
          <p:cNvPr id="11" name="Shape 8"/>
          <p:cNvSpPr/>
          <p:nvPr/>
        </p:nvSpPr>
        <p:spPr>
          <a:xfrm>
            <a:off x="9006840" y="3611880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9189720" y="3232122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Satisfaction breakdown</a:t>
            </a:r>
            <a:endParaRPr lang="en-US" sz="1150" b="1" dirty="0"/>
          </a:p>
        </p:txBody>
      </p:sp>
      <p:sp>
        <p:nvSpPr>
          <p:cNvPr id="13" name="Shape 10"/>
          <p:cNvSpPr/>
          <p:nvPr/>
        </p:nvSpPr>
        <p:spPr>
          <a:xfrm>
            <a:off x="9006840" y="4507992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9189720" y="4128234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Overtime analysis</a:t>
            </a:r>
            <a:endParaRPr lang="en-US" sz="1150" b="1" dirty="0"/>
          </a:p>
        </p:txBody>
      </p:sp>
      <p:sp>
        <p:nvSpPr>
          <p:cNvPr id="15" name="Text 12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46E7FF0-D170-CF58-8ADB-B1CB1F06C6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59792"/>
            <a:ext cx="7876903" cy="441058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Insights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66160" cy="1371600"/>
          </a:xfrm>
          <a:prstGeom prst="roundRect">
            <a:avLst>
              <a:gd name="adj" fmla="val 6667"/>
            </a:avLst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1,470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1214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3D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Employees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43400" y="1371600"/>
            <a:ext cx="3566160" cy="1371600"/>
          </a:xfrm>
          <a:prstGeom prst="roundRect">
            <a:avLst>
              <a:gd name="adj" fmla="val 6667"/>
            </a:avLst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4343400" y="144475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237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343400" y="21214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3D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Left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0" y="1371600"/>
            <a:ext cx="3566160" cy="1371600"/>
          </a:xfrm>
          <a:prstGeom prst="roundRect">
            <a:avLst>
              <a:gd name="adj" fmla="val 6667"/>
            </a:avLst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8138160" y="144475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16.1%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138160" y="21214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3D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Attrition Rate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063240"/>
            <a:ext cx="11109960" cy="3017520"/>
          </a:xfrm>
          <a:prstGeom prst="roundRect">
            <a:avLst>
              <a:gd name="adj" fmla="val 3030"/>
            </a:avLst>
          </a:prstGeom>
          <a:solidFill>
            <a:srgbClr val="E8EAF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914400" y="3291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SHOWS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4400" y="3886200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914400" y="38862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3813048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Development has the highest attrition among departments.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14400" y="4599432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914400" y="45994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452628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have the highest average salary of all job roles.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14400" y="5312664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914400" y="531266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71600" y="523951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working overtime show a higher likelihood of attrition.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Recommendations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FBE9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822960" y="1627632"/>
            <a:ext cx="548640" cy="5486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822960" y="16276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691640" y="15087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employee engagement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E8EAF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822960" y="2560320"/>
            <a:ext cx="548640" cy="548640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822960" y="2560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244144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overtime policies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374136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FBE9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822960" y="3493008"/>
            <a:ext cx="548640" cy="5486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822960" y="34930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691640" y="3374136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career development opportunities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4306824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E8EAF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822960" y="4425696"/>
            <a:ext cx="548640" cy="548640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822960" y="442569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91640" y="4306824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 employee retention programs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5239512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FBE9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822960" y="5358384"/>
            <a:ext cx="548640" cy="5486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822960" y="53583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691640" y="523951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regular employee satisfaction surveys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F3C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91440" cy="914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960120" y="1389888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 interactive HR Analytics Dashboard using Power BI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212848"/>
            <a:ext cx="91440" cy="914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60120" y="204825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Performed data cleaning using Power Query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871216"/>
            <a:ext cx="91440" cy="914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60120" y="2706624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DAX measures and calculated columns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529584"/>
            <a:ext cx="91440" cy="914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60120" y="3364992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KPIs and drill-through pages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4187952"/>
            <a:ext cx="91440" cy="914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960120" y="402336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Enabled data-driven HR decision-making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040880" y="1463040"/>
            <a:ext cx="4572000" cy="4023360"/>
          </a:xfrm>
          <a:prstGeom prst="roundRect">
            <a:avLst>
              <a:gd name="adj" fmla="val 2727"/>
            </a:avLst>
          </a:prstGeom>
          <a:solidFill>
            <a:srgbClr val="FCF6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7040880" y="2377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040880" y="3154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Answers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40880" y="44805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Rudrashis Chowdhury  •  MCA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Amity University, Noida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476</Words>
  <Application>Microsoft Office PowerPoint</Application>
  <PresentationFormat>Widescreen</PresentationFormat>
  <Paragraphs>144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Rudrashis Chowdhury</cp:lastModifiedBy>
  <cp:revision>13</cp:revision>
  <dcterms:created xsi:type="dcterms:W3CDTF">2026-08-02T09:40:31Z</dcterms:created>
  <dcterms:modified xsi:type="dcterms:W3CDTF">2026-08-04T05:40:00Z</dcterms:modified>
</cp:coreProperties>
</file>